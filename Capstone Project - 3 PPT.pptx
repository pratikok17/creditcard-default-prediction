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24" autoAdjust="0"/>
  </p:normalViewPr>
  <p:slideViewPr>
    <p:cSldViewPr>
      <p:cViewPr>
        <p:scale>
          <a:sx n="71" d="100"/>
          <a:sy n="71" d="100"/>
        </p:scale>
        <p:origin x="-1356" y="-54"/>
      </p:cViewPr>
      <p:guideLst>
        <p:guide orient="horz" pos="2160"/>
        <p:guide pos="2880"/>
      </p:guideLst>
    </p:cSldViewPr>
  </p:slideViewPr>
  <p:outlineViewPr>
    <p:cViewPr>
      <p:scale>
        <a:sx n="33" d="100"/>
        <a:sy n="33" d="100"/>
      </p:scale>
      <p:origin x="0" y="264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5C08A0-C358-4F4F-8106-B57D357F057C}" type="datetimeFigureOut">
              <a:rPr lang="en-US" smtClean="0"/>
              <a:pPr/>
              <a:t>6/6/2023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5E2EC3-38DA-499E-9F32-822B7C00BB6B}"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DA5E2EC3-38DA-499E-9F32-822B7C00BB6B}" type="slidenum">
              <a:rPr lang="en-IN" smtClean="0"/>
              <a:pPr/>
              <a:t>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A4833AE-FC52-4D5C-B0B9-A27AACDF176C}" type="datetimeFigureOut">
              <a:rPr lang="en-US" smtClean="0"/>
              <a:pPr/>
              <a:t>6/6/2023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A4833AE-FC52-4D5C-B0B9-A27AACDF176C}" type="datetimeFigureOut">
              <a:rPr lang="en-US" smtClean="0"/>
              <a:pPr/>
              <a:t>6/6/2023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4833AE-FC52-4D5C-B0B9-A27AACDF176C}" type="datetimeFigureOut">
              <a:rPr lang="en-US" smtClean="0"/>
              <a:pPr/>
              <a:t>6/6/2023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A4833AE-FC52-4D5C-B0B9-A27AACDF176C}" type="datetimeFigureOut">
              <a:rPr lang="en-US" smtClean="0"/>
              <a:pPr/>
              <a:t>6/6/2023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A4833AE-FC52-4D5C-B0B9-A27AACDF176C}" type="datetimeFigureOut">
              <a:rPr lang="en-US" smtClean="0"/>
              <a:pPr/>
              <a:t>6/6/2023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A4833AE-FC52-4D5C-B0B9-A27AACDF176C}" type="datetimeFigureOut">
              <a:rPr lang="en-US" smtClean="0"/>
              <a:pPr/>
              <a:t>6/6/2023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833AE-FC52-4D5C-B0B9-A27AACDF176C}" type="datetimeFigureOut">
              <a:rPr lang="en-US" smtClean="0"/>
              <a:pPr/>
              <a:t>6/6/2023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4833AE-FC52-4D5C-B0B9-A27AACDF176C}" type="datetimeFigureOut">
              <a:rPr lang="en-US" smtClean="0"/>
              <a:pPr/>
              <a:t>6/6/2023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4833AE-FC52-4D5C-B0B9-A27AACDF176C}" type="datetimeFigureOut">
              <a:rPr lang="en-US" smtClean="0"/>
              <a:pPr/>
              <a:t>6/6/2023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A4833AE-FC52-4D5C-B0B9-A27AACDF176C}" type="datetimeFigureOut">
              <a:rPr lang="en-US" smtClean="0"/>
              <a:pPr/>
              <a:t>6/6/2023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A4833AE-FC52-4D5C-B0B9-A27AACDF176C}" type="datetimeFigureOut">
              <a:rPr lang="en-US" smtClean="0"/>
              <a:pPr/>
              <a:t>6/6/2023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CBE1C7-9318-4E8E-BCCF-0A073B4520A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833AE-FC52-4D5C-B0B9-A27AACDF176C}" type="datetimeFigureOut">
              <a:rPr lang="en-US" smtClean="0"/>
              <a:pPr/>
              <a:t>6/6/2023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CBE1C7-9318-4E8E-BCCF-0A073B4520A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428604"/>
            <a:ext cx="7772400" cy="1470025"/>
          </a:xfrm>
        </p:spPr>
        <p:txBody>
          <a:bodyPr/>
          <a:lstStyle/>
          <a:p>
            <a:r>
              <a:rPr lang="en-IN" b="1" dirty="0" smtClean="0">
                <a:solidFill>
                  <a:srgbClr val="FF0000"/>
                </a:solidFill>
              </a:rPr>
              <a:t>Capstone Project </a:t>
            </a:r>
            <a:r>
              <a:rPr lang="en-IN" b="1" dirty="0" smtClean="0">
                <a:solidFill>
                  <a:srgbClr val="FF0000"/>
                </a:solidFill>
              </a:rPr>
              <a:t>– 3</a:t>
            </a:r>
            <a:br>
              <a:rPr lang="en-IN" b="1" dirty="0" smtClean="0">
                <a:solidFill>
                  <a:srgbClr val="FF0000"/>
                </a:solidFill>
              </a:rPr>
            </a:br>
            <a:r>
              <a:rPr lang="en-IN" b="1" dirty="0" smtClean="0">
                <a:solidFill>
                  <a:srgbClr val="FF0000"/>
                </a:solidFill>
              </a:rPr>
              <a:t> Supervised M.L.</a:t>
            </a:r>
            <a:endParaRPr lang="en-IN" b="1" dirty="0">
              <a:solidFill>
                <a:srgbClr val="FF0000"/>
              </a:solidFill>
            </a:endParaRPr>
          </a:p>
        </p:txBody>
      </p:sp>
      <p:sp>
        <p:nvSpPr>
          <p:cNvPr id="3" name="Subtitle 2"/>
          <p:cNvSpPr>
            <a:spLocks noGrp="1"/>
          </p:cNvSpPr>
          <p:nvPr>
            <p:ph type="subTitle" idx="1"/>
          </p:nvPr>
        </p:nvSpPr>
        <p:spPr>
          <a:xfrm>
            <a:off x="500034" y="2000240"/>
            <a:ext cx="7929618" cy="4500594"/>
          </a:xfrm>
        </p:spPr>
        <p:txBody>
          <a:bodyPr/>
          <a:lstStyle/>
          <a:p>
            <a:endParaRPr lang="en-US" b="1" dirty="0" smtClean="0">
              <a:solidFill>
                <a:schemeClr val="tx1"/>
              </a:solidFill>
            </a:endParaRPr>
          </a:p>
          <a:p>
            <a:endParaRPr lang="en-US" b="1" dirty="0" smtClean="0">
              <a:solidFill>
                <a:schemeClr val="tx1"/>
              </a:solidFill>
            </a:endParaRPr>
          </a:p>
          <a:p>
            <a:r>
              <a:rPr lang="en-US" b="1" dirty="0" smtClean="0">
                <a:solidFill>
                  <a:schemeClr val="tx1"/>
                </a:solidFill>
              </a:rPr>
              <a:t>CREDIT </a:t>
            </a:r>
            <a:r>
              <a:rPr lang="en-US" b="1" dirty="0" smtClean="0">
                <a:solidFill>
                  <a:schemeClr val="tx1"/>
                </a:solidFill>
              </a:rPr>
              <a:t>CARD DEFAULT PREDICTION</a:t>
            </a:r>
            <a:endParaRPr lang="en-US" b="1" dirty="0">
              <a:solidFill>
                <a:schemeClr val="tx1"/>
              </a:solidFill>
            </a:endParaRPr>
          </a:p>
          <a:p>
            <a:endParaRPr lang="en-US" b="1" dirty="0" smtClean="0">
              <a:solidFill>
                <a:schemeClr val="tx1"/>
              </a:solidFill>
            </a:endParaRPr>
          </a:p>
          <a:p>
            <a:r>
              <a:rPr lang="en-US" sz="2800" b="1" dirty="0" smtClean="0">
                <a:solidFill>
                  <a:schemeClr val="tx1"/>
                </a:solidFill>
              </a:rPr>
              <a:t>Individual </a:t>
            </a:r>
            <a:r>
              <a:rPr lang="en-US" sz="2800" b="1" dirty="0" smtClean="0">
                <a:solidFill>
                  <a:schemeClr val="tx1"/>
                </a:solidFill>
              </a:rPr>
              <a:t>Project</a:t>
            </a:r>
          </a:p>
          <a:p>
            <a:r>
              <a:rPr lang="en-US" sz="2800" b="1" dirty="0" err="1" smtClean="0">
                <a:solidFill>
                  <a:schemeClr val="tx1"/>
                </a:solidFill>
              </a:rPr>
              <a:t>Pratik</a:t>
            </a:r>
            <a:r>
              <a:rPr lang="en-US" sz="2800" b="1" dirty="0" smtClean="0">
                <a:solidFill>
                  <a:schemeClr val="tx1"/>
                </a:solidFill>
              </a:rPr>
              <a:t> </a:t>
            </a:r>
            <a:r>
              <a:rPr lang="en-US" sz="2800" b="1" dirty="0" err="1" smtClean="0">
                <a:solidFill>
                  <a:schemeClr val="tx1"/>
                </a:solidFill>
              </a:rPr>
              <a:t>Vishwakarma</a:t>
            </a:r>
            <a:endParaRPr lang="en-US" sz="2800" b="1" dirty="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latin typeface="Times New Roman" pitchFamily="18" charset="0"/>
                <a:cs typeface="Times New Roman" pitchFamily="18" charset="0"/>
              </a:rPr>
              <a:t>Table Of Content :</a:t>
            </a:r>
            <a:endParaRPr lang="en-IN"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2984"/>
            <a:ext cx="8229600" cy="5429288"/>
          </a:xfrm>
        </p:spPr>
        <p:txBody>
          <a:bodyPr>
            <a:noAutofit/>
          </a:bodyPr>
          <a:lstStyle/>
          <a:p>
            <a:pPr>
              <a:buNone/>
            </a:pPr>
            <a:endParaRPr lang="en-IN" sz="2400" dirty="0" smtClean="0"/>
          </a:p>
          <a:p>
            <a:r>
              <a:rPr lang="en-IN" sz="2000" dirty="0" smtClean="0"/>
              <a:t>1. Problem Statement</a:t>
            </a:r>
          </a:p>
          <a:p>
            <a:r>
              <a:rPr lang="en-IN" sz="2000" dirty="0" smtClean="0"/>
              <a:t>2. Introduction</a:t>
            </a:r>
          </a:p>
          <a:p>
            <a:r>
              <a:rPr lang="en-IN" sz="2000" dirty="0" smtClean="0"/>
              <a:t>3. Data Cleaning</a:t>
            </a:r>
          </a:p>
          <a:p>
            <a:r>
              <a:rPr lang="en-IN" sz="2000" dirty="0" smtClean="0"/>
              <a:t>4. Exploratory Data Analysis</a:t>
            </a:r>
          </a:p>
          <a:p>
            <a:r>
              <a:rPr lang="en-IN" sz="2000" dirty="0" smtClean="0"/>
              <a:t>5. Handling Class Imbalance</a:t>
            </a:r>
          </a:p>
          <a:p>
            <a:r>
              <a:rPr lang="en-IN" sz="2000" dirty="0" smtClean="0"/>
              <a:t>6. Transforming Data</a:t>
            </a:r>
          </a:p>
          <a:p>
            <a:r>
              <a:rPr lang="en-IN" sz="2000" dirty="0" smtClean="0"/>
              <a:t>7. Splitting Data</a:t>
            </a:r>
          </a:p>
          <a:p>
            <a:r>
              <a:rPr lang="en-IN" sz="2000" dirty="0" smtClean="0"/>
              <a:t>8. Fitting Different Model</a:t>
            </a:r>
          </a:p>
          <a:p>
            <a:r>
              <a:rPr lang="en-IN" sz="2000" dirty="0" smtClean="0"/>
              <a:t>9. Cross Validation &amp; Hyper parameter Tuning</a:t>
            </a:r>
          </a:p>
          <a:p>
            <a:r>
              <a:rPr lang="en-IN" sz="2000" dirty="0" smtClean="0"/>
              <a:t>10. Comparison of Model</a:t>
            </a:r>
          </a:p>
          <a:p>
            <a:r>
              <a:rPr lang="en-IN" sz="2000" dirty="0" smtClean="0"/>
              <a:t>11. Combined ROC Curve</a:t>
            </a:r>
          </a:p>
          <a:p>
            <a:r>
              <a:rPr lang="en-IN" sz="2000" dirty="0" smtClean="0"/>
              <a:t>12. Feature Importance</a:t>
            </a:r>
          </a:p>
          <a:p>
            <a:r>
              <a:rPr lang="en-IN" sz="2000" dirty="0" smtClean="0"/>
              <a:t>13. Conclusion</a:t>
            </a:r>
          </a:p>
          <a:p>
            <a:pPr>
              <a:buNone/>
            </a:pPr>
            <a:endParaRPr lang="en-US" sz="2400" dirty="0" smtClean="0">
              <a:solidFill>
                <a:srgbClr val="002060"/>
              </a:solidFill>
            </a:endParaRPr>
          </a:p>
        </p:txBody>
      </p:sp>
      <p:pic>
        <p:nvPicPr>
          <p:cNvPr id="4"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rPr>
              <a:t>1. Problem Statement: </a:t>
            </a:r>
            <a:endParaRPr lang="en-IN" sz="4000" b="1" dirty="0">
              <a:solidFill>
                <a:srgbClr val="FF0000"/>
              </a:solidFill>
            </a:endParaRPr>
          </a:p>
        </p:txBody>
      </p:sp>
      <p:pic>
        <p:nvPicPr>
          <p:cNvPr id="2050" name="Picture 2"/>
          <p:cNvPicPr>
            <a:picLocks noGrp="1" noChangeAspect="1" noChangeArrowheads="1"/>
          </p:cNvPicPr>
          <p:nvPr>
            <p:ph idx="1"/>
          </p:nvPr>
        </p:nvPicPr>
        <p:blipFill>
          <a:blip r:embed="rId2"/>
          <a:srcRect/>
          <a:stretch>
            <a:fillRect/>
          </a:stretch>
        </p:blipFill>
        <p:spPr bwMode="auto">
          <a:xfrm>
            <a:off x="2714612" y="1428737"/>
            <a:ext cx="3786214" cy="2143140"/>
          </a:xfrm>
          <a:prstGeom prst="rect">
            <a:avLst/>
          </a:prstGeom>
          <a:noFill/>
          <a:ln w="9525">
            <a:noFill/>
            <a:miter lim="800000"/>
            <a:headEnd/>
            <a:tailEnd/>
          </a:ln>
          <a:effectLst/>
        </p:spPr>
      </p:pic>
      <p:sp>
        <p:nvSpPr>
          <p:cNvPr id="5" name="Title 1"/>
          <p:cNvSpPr txBox="1">
            <a:spLocks/>
          </p:cNvSpPr>
          <p:nvPr/>
        </p:nvSpPr>
        <p:spPr>
          <a:xfrm>
            <a:off x="428596" y="3643314"/>
            <a:ext cx="8229600" cy="30003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200" b="1" i="0" u="none" strike="noStrike" kern="1200" cap="none" spc="0" normalizeH="0" baseline="0" noProof="0" dirty="0">
              <a:ln>
                <a:noFill/>
              </a:ln>
              <a:solidFill>
                <a:srgbClr val="FF0000"/>
              </a:solidFill>
              <a:effectLst/>
              <a:uLnTx/>
              <a:uFillTx/>
              <a:latin typeface="+mj-lt"/>
              <a:ea typeface="+mj-ea"/>
              <a:cs typeface="+mj-cs"/>
            </a:endParaRPr>
          </a:p>
        </p:txBody>
      </p:sp>
      <p:sp>
        <p:nvSpPr>
          <p:cNvPr id="6" name="Content Placeholder 2"/>
          <p:cNvSpPr txBox="1">
            <a:spLocks/>
          </p:cNvSpPr>
          <p:nvPr/>
        </p:nvSpPr>
        <p:spPr>
          <a:xfrm>
            <a:off x="457200" y="3714752"/>
            <a:ext cx="8229600" cy="2857520"/>
          </a:xfrm>
          <a:prstGeom prst="rect">
            <a:avLst/>
          </a:prstGeom>
        </p:spPr>
        <p:txBody>
          <a:bodyPr vert="horz" lIns="91440" tIns="45720" rIns="91440" bIns="45720" rtlCol="0">
            <a:noAutofit/>
          </a:bodyPr>
          <a:lstStyle/>
          <a:p>
            <a:r>
              <a:rPr lang="en-IN" sz="2400" dirty="0" smtClean="0">
                <a:latin typeface="Times New Roman" pitchFamily="18" charset="0"/>
                <a:cs typeface="Times New Roman" pitchFamily="18" charset="0"/>
              </a:rPr>
              <a:t>●This project is aimed at predicting the case of customers default payments in Taiwan. From the perspective of risk management, the result of predictive accuracy of the estimated probability of default will be more valuable than the binary result of classification.</a:t>
            </a:r>
          </a:p>
          <a:p>
            <a:r>
              <a:rPr lang="en-IN" sz="2400" dirty="0" smtClean="0">
                <a:latin typeface="Times New Roman" pitchFamily="18" charset="0"/>
                <a:cs typeface="Times New Roman" pitchFamily="18" charset="0"/>
              </a:rPr>
              <a:t>●So we will Predict whether a customer will default on his/her credit card.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smtClean="0">
              <a:ln>
                <a:noFill/>
              </a:ln>
              <a:solidFill>
                <a:srgbClr val="002060"/>
              </a:solidFill>
              <a:effectLst/>
              <a:uLnTx/>
              <a:uFillTx/>
              <a:latin typeface="+mn-lt"/>
              <a:ea typeface="+mn-ea"/>
              <a:cs typeface="+mn-cs"/>
            </a:endParaRPr>
          </a:p>
        </p:txBody>
      </p:sp>
      <p:pic>
        <p:nvPicPr>
          <p:cNvPr id="7" name="Picture 2"/>
          <p:cNvPicPr>
            <a:picLocks noChangeAspect="1" noChangeArrowheads="1"/>
          </p:cNvPicPr>
          <p:nvPr/>
        </p:nvPicPr>
        <p:blipFill>
          <a:blip r:embed="rId3"/>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rPr>
              <a:t>2. Introduction :</a:t>
            </a:r>
            <a:endParaRPr lang="en-IN" sz="4000" b="1" dirty="0">
              <a:solidFill>
                <a:srgbClr val="FF0000"/>
              </a:solidFill>
            </a:endParaRPr>
          </a:p>
        </p:txBody>
      </p:sp>
      <p:sp>
        <p:nvSpPr>
          <p:cNvPr id="3" name="Content Placeholder 2"/>
          <p:cNvSpPr>
            <a:spLocks noGrp="1"/>
          </p:cNvSpPr>
          <p:nvPr>
            <p:ph idx="1"/>
          </p:nvPr>
        </p:nvSpPr>
        <p:spPr>
          <a:xfrm>
            <a:off x="428596" y="3286124"/>
            <a:ext cx="8229600" cy="3000396"/>
          </a:xfrm>
        </p:spPr>
        <p:txBody>
          <a:bodyPr>
            <a:normAutofit fontScale="92500" lnSpcReduction="10000"/>
          </a:bodyPr>
          <a:lstStyle/>
          <a:p>
            <a:endParaRPr lang="en-IN" sz="2400" dirty="0" smtClean="0"/>
          </a:p>
          <a:p>
            <a:endParaRPr lang="en-IN" sz="2400" dirty="0" smtClean="0"/>
          </a:p>
          <a:p>
            <a:r>
              <a:rPr lang="en-IN" sz="2400" dirty="0" smtClean="0"/>
              <a:t>Credit cards are usually small plastic cards with a unique number attached to an account.</a:t>
            </a:r>
          </a:p>
          <a:p>
            <a:pPr>
              <a:buNone/>
            </a:pPr>
            <a:endParaRPr lang="en-IN" sz="2400" dirty="0" smtClean="0"/>
          </a:p>
          <a:p>
            <a:r>
              <a:rPr lang="en-IN" sz="2400" dirty="0" smtClean="0"/>
              <a:t>It impose the condition that cardholders pay back the borrowed money, plus any applicable interest, as well as any additional agreed-upon charges, either in full by the billing date or over time.</a:t>
            </a:r>
          </a:p>
          <a:p>
            <a:pPr>
              <a:buNone/>
            </a:pPr>
            <a:endParaRPr lang="en-IN" sz="2400" dirty="0"/>
          </a:p>
        </p:txBody>
      </p:sp>
      <p:pic>
        <p:nvPicPr>
          <p:cNvPr id="3074" name="Picture 2"/>
          <p:cNvPicPr>
            <a:picLocks noChangeAspect="1" noChangeArrowheads="1"/>
          </p:cNvPicPr>
          <p:nvPr/>
        </p:nvPicPr>
        <p:blipFill>
          <a:blip r:embed="rId2"/>
          <a:srcRect/>
          <a:stretch>
            <a:fillRect/>
          </a:stretch>
        </p:blipFill>
        <p:spPr bwMode="auto">
          <a:xfrm>
            <a:off x="2928926" y="1500174"/>
            <a:ext cx="3098177" cy="1928826"/>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57200" y="1571612"/>
            <a:ext cx="8229600" cy="4554551"/>
          </a:xfrm>
        </p:spPr>
        <p:txBody>
          <a:bodyPr>
            <a:normAutofit lnSpcReduction="10000"/>
          </a:bodyPr>
          <a:lstStyle/>
          <a:p>
            <a:endParaRPr lang="en-IN" sz="2400" dirty="0" smtClean="0"/>
          </a:p>
          <a:p>
            <a:r>
              <a:rPr lang="en-IN" sz="2200" dirty="0" smtClean="0">
                <a:latin typeface="Times New Roman" pitchFamily="18" charset="0"/>
                <a:cs typeface="Times New Roman" pitchFamily="18" charset="0"/>
              </a:rPr>
              <a:t>We have the dataset of credit card clients contains 30,000 rows and 25 features.</a:t>
            </a:r>
          </a:p>
          <a:p>
            <a:r>
              <a:rPr lang="en-US" sz="2200" b="1" dirty="0" smtClean="0">
                <a:latin typeface="Times New Roman" pitchFamily="18" charset="0"/>
                <a:cs typeface="Times New Roman" pitchFamily="18" charset="0"/>
              </a:rPr>
              <a:t>Features : - </a:t>
            </a:r>
            <a:endParaRPr lang="en-IN" sz="2200" b="1" dirty="0" smtClean="0">
              <a:latin typeface="Times New Roman" pitchFamily="18" charset="0"/>
              <a:cs typeface="Times New Roman" pitchFamily="18" charset="0"/>
            </a:endParaRPr>
          </a:p>
          <a:p>
            <a:r>
              <a:rPr lang="en-IN" sz="2200" b="1" dirty="0" smtClean="0">
                <a:latin typeface="Times New Roman" pitchFamily="18" charset="0"/>
                <a:cs typeface="Times New Roman" pitchFamily="18" charset="0"/>
              </a:rPr>
              <a:t>ID: Unique ID of each client </a:t>
            </a:r>
          </a:p>
          <a:p>
            <a:r>
              <a:rPr lang="en-IN" sz="2200" b="1" dirty="0" smtClean="0">
                <a:latin typeface="Times New Roman" pitchFamily="18" charset="0"/>
                <a:cs typeface="Times New Roman" pitchFamily="18" charset="0"/>
              </a:rPr>
              <a:t>LIMIT_BAL: Amount of the given credit (NT dollar). </a:t>
            </a:r>
          </a:p>
          <a:p>
            <a:r>
              <a:rPr lang="en-IN" sz="2200" b="1" dirty="0" smtClean="0">
                <a:latin typeface="Times New Roman" pitchFamily="18" charset="0"/>
                <a:cs typeface="Times New Roman" pitchFamily="18" charset="0"/>
              </a:rPr>
              <a:t>Gender: Gender of customer. (1 = male; 2 = female) </a:t>
            </a:r>
          </a:p>
          <a:p>
            <a:r>
              <a:rPr lang="en-IN" sz="2200" b="1" dirty="0" smtClean="0">
                <a:latin typeface="Times New Roman" pitchFamily="18" charset="0"/>
                <a:cs typeface="Times New Roman" pitchFamily="18" charset="0"/>
              </a:rPr>
              <a:t>Education: Education qualification of customers. (1 = graduate school; </a:t>
            </a:r>
          </a:p>
          <a:p>
            <a:r>
              <a:rPr lang="en-IN" sz="2200" dirty="0" smtClean="0">
                <a:latin typeface="Times New Roman" pitchFamily="18" charset="0"/>
                <a:cs typeface="Times New Roman" pitchFamily="18" charset="0"/>
              </a:rPr>
              <a:t>2 = university; 3 = high school; 4 = others) </a:t>
            </a:r>
          </a:p>
          <a:p>
            <a:r>
              <a:rPr lang="en-IN" sz="2200" b="1" dirty="0" smtClean="0">
                <a:latin typeface="Times New Roman" pitchFamily="18" charset="0"/>
                <a:cs typeface="Times New Roman" pitchFamily="18" charset="0"/>
              </a:rPr>
              <a:t>Marital Status: Marital status of customer. (1 = married; 2 = single; 3 = others)</a:t>
            </a:r>
            <a:endParaRPr lang="en-IN" sz="2200" dirty="0">
              <a:latin typeface="Times New Roman" pitchFamily="18" charset="0"/>
              <a:cs typeface="Times New Roman" pitchFamily="18" charset="0"/>
            </a:endParaRPr>
          </a:p>
        </p:txBody>
      </p:sp>
      <p:pic>
        <p:nvPicPr>
          <p:cNvPr id="3" name="Picture 2"/>
          <p:cNvPicPr>
            <a:picLocks noChangeAspect="1" noChangeArrowheads="1"/>
          </p:cNvPicPr>
          <p:nvPr/>
        </p:nvPicPr>
        <p:blipFill>
          <a:blip r:embed="rId3"/>
          <a:srcRect/>
          <a:stretch>
            <a:fillRect/>
          </a:stretch>
        </p:blipFill>
        <p:spPr bwMode="auto">
          <a:xfrm>
            <a:off x="8286776" y="214290"/>
            <a:ext cx="723900" cy="742950"/>
          </a:xfrm>
          <a:prstGeom prst="rect">
            <a:avLst/>
          </a:prstGeom>
          <a:noFill/>
          <a:ln w="9525">
            <a:noFill/>
            <a:miter lim="800000"/>
            <a:headEnd/>
            <a:tailEnd/>
          </a:ln>
          <a:effectLst/>
        </p:spPr>
      </p:pic>
      <p:sp>
        <p:nvSpPr>
          <p:cNvPr id="4" name="Title 1"/>
          <p:cNvSpPr>
            <a:spLocks noGrp="1"/>
          </p:cNvSpPr>
          <p:nvPr>
            <p:ph type="title"/>
          </p:nvPr>
        </p:nvSpPr>
        <p:spPr>
          <a:xfrm>
            <a:off x="457200" y="274638"/>
            <a:ext cx="8229600" cy="1143000"/>
          </a:xfrm>
        </p:spPr>
        <p:txBody>
          <a:bodyPr>
            <a:normAutofit/>
          </a:bodyPr>
          <a:lstStyle/>
          <a:p>
            <a:pPr algn="l"/>
            <a:r>
              <a:rPr lang="en-IN" sz="4000" b="1" dirty="0" smtClean="0">
                <a:solidFill>
                  <a:srgbClr val="FF0000"/>
                </a:solidFill>
                <a:latin typeface="Times New Roman" pitchFamily="18" charset="0"/>
                <a:cs typeface="Times New Roman" pitchFamily="18" charset="0"/>
              </a:rPr>
              <a:t>2.Introduction (Contd.) :</a:t>
            </a:r>
            <a:endParaRPr lang="en-IN" sz="4000" b="1" dirty="0">
              <a:solidFill>
                <a:srgbClr val="FF0000"/>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b="1" dirty="0" smtClean="0">
                <a:solidFill>
                  <a:srgbClr val="FF0000"/>
                </a:solidFill>
                <a:latin typeface="Times New Roman" pitchFamily="18" charset="0"/>
                <a:cs typeface="Times New Roman" pitchFamily="18" charset="0"/>
              </a:rPr>
              <a:t>Introduction(Contd.) :</a:t>
            </a:r>
            <a:endParaRPr lang="en-IN" sz="4000" b="1" dirty="0">
              <a:solidFill>
                <a:srgbClr val="FF0000"/>
              </a:solidFill>
              <a:latin typeface="Times New Roman" pitchFamily="18" charset="0"/>
              <a:cs typeface="Times New Roman" pitchFamily="18" charset="0"/>
            </a:endParaRPr>
          </a:p>
        </p:txBody>
      </p:sp>
      <p:sp>
        <p:nvSpPr>
          <p:cNvPr id="6" name="Title 1"/>
          <p:cNvSpPr txBox="1">
            <a:spLocks/>
          </p:cNvSpPr>
          <p:nvPr/>
        </p:nvSpPr>
        <p:spPr>
          <a:xfrm>
            <a:off x="357158" y="3643314"/>
            <a:ext cx="8229600" cy="2857512"/>
          </a:xfrm>
          <a:prstGeom prst="rect">
            <a:avLst/>
          </a:prstGeom>
        </p:spPr>
        <p:txBody>
          <a:bodyPr vert="horz" lIns="91440" tIns="45720" rIns="91440" bIns="45720" rtlCol="0" anchor="ctr">
            <a:normAutofit/>
          </a:bodyPr>
          <a:lstStyle/>
          <a:p>
            <a:pPr lvl="0">
              <a:spcBef>
                <a:spcPct val="0"/>
              </a:spcBef>
            </a:pPr>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12" name="Title 1"/>
          <p:cNvSpPr>
            <a:spLocks noGrp="1"/>
          </p:cNvSpPr>
          <p:nvPr>
            <p:ph idx="1"/>
          </p:nvPr>
        </p:nvSpPr>
        <p:spPr>
          <a:xfrm>
            <a:off x="428596" y="1857364"/>
            <a:ext cx="8229600" cy="4554551"/>
          </a:xfrm>
        </p:spPr>
        <p:txBody>
          <a:bodyPr>
            <a:normAutofit/>
          </a:bodyPr>
          <a:lstStyle/>
          <a:p>
            <a:r>
              <a:rPr lang="en-IN" sz="2200" dirty="0" smtClean="0">
                <a:latin typeface="Times New Roman" pitchFamily="18" charset="0"/>
                <a:cs typeface="Times New Roman" pitchFamily="18" charset="0"/>
              </a:rPr>
              <a:t>Age: Age of customer in years.</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History of Past Payment: (PAY) Repayment status in September, August, July, June, May and April 2005. </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Amount of Bill Statement: (BILL_AMT) Amount of bill statement in September, August, July, June, May and April 2005. </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Amount of Previous Payment:(PAY_AMT) Amount of previous payment in September, August, July, June, May and April 2005</a:t>
            </a:r>
            <a:endParaRPr lang="en-IN" sz="22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357158" y="3000372"/>
            <a:ext cx="8229600" cy="3500454"/>
          </a:xfrm>
          <a:prstGeom prst="rect">
            <a:avLst/>
          </a:prstGeom>
        </p:spPr>
        <p:txBody>
          <a:bodyPr vert="horz" lIns="91440" tIns="45720" rIns="91440" bIns="45720" rtlCol="0" anchor="ctr">
            <a:normAutofit/>
          </a:bodyPr>
          <a:lstStyle/>
          <a:p>
            <a:pPr lvl="0">
              <a:spcBef>
                <a:spcPct val="0"/>
              </a:spcBef>
            </a:pPr>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6" name="Title 1"/>
          <p:cNvSpPr txBox="1">
            <a:spLocks/>
          </p:cNvSpPr>
          <p:nvPr/>
        </p:nvSpPr>
        <p:spPr>
          <a:xfrm>
            <a:off x="571472" y="1785926"/>
            <a:ext cx="4929222" cy="4214842"/>
          </a:xfrm>
          <a:prstGeom prst="rect">
            <a:avLst/>
          </a:prstGeom>
        </p:spPr>
        <p:txBody>
          <a:bodyPr vert="horz" lIns="91440" tIns="45720" rIns="91440" bIns="45720" rtlCol="0" anchor="ctr">
            <a:normAutofit/>
          </a:bodyPr>
          <a:lstStyle/>
          <a:p>
            <a:r>
              <a:rPr lang="en-IN" sz="2400" dirty="0" smtClean="0">
                <a:latin typeface="Times New Roman" pitchFamily="18" charset="0"/>
                <a:cs typeface="Times New Roman" pitchFamily="18" charset="0"/>
              </a:rPr>
              <a:t>●Dataset contains no null values.</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●No duplicates found.</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●Renamed the features.</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●Replaced some columns with categorical values.</a:t>
            </a:r>
          </a:p>
          <a:p>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9" name="Title 1"/>
          <p:cNvSpPr>
            <a:spLocks noGrp="1"/>
          </p:cNvSpPr>
          <p:nvPr>
            <p:ph type="title"/>
          </p:nvPr>
        </p:nvSpPr>
        <p:spPr>
          <a:xfrm>
            <a:off x="457200" y="274638"/>
            <a:ext cx="8229600" cy="1143000"/>
          </a:xfrm>
        </p:spPr>
        <p:txBody>
          <a:bodyPr>
            <a:normAutofit/>
          </a:bodyPr>
          <a:lstStyle/>
          <a:p>
            <a:pPr algn="l"/>
            <a:r>
              <a:rPr lang="en-IN" sz="4000" b="1" dirty="0" smtClean="0">
                <a:solidFill>
                  <a:srgbClr val="FF0000"/>
                </a:solidFill>
                <a:latin typeface="Times New Roman" pitchFamily="18" charset="0"/>
                <a:cs typeface="Times New Roman" pitchFamily="18" charset="0"/>
              </a:rPr>
              <a:t>3. Data Cleaning :</a:t>
            </a:r>
            <a:endParaRPr lang="en-IN" sz="4000" b="1" dirty="0">
              <a:solidFill>
                <a:srgbClr val="FF000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cstate="print"/>
          <a:srcRect/>
          <a:stretch>
            <a:fillRect/>
          </a:stretch>
        </p:blipFill>
        <p:spPr bwMode="auto">
          <a:xfrm>
            <a:off x="5643570" y="2285992"/>
            <a:ext cx="3215318" cy="2273232"/>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357158" y="428604"/>
            <a:ext cx="5500726" cy="5786478"/>
          </a:xfrm>
          <a:prstGeom prst="rect">
            <a:avLst/>
          </a:prstGeom>
        </p:spPr>
        <p:txBody>
          <a:bodyPr vert="horz" lIns="91440" tIns="45720" rIns="91440" bIns="45720" rtlCol="0" anchor="ctr">
            <a:normAutofit/>
          </a:bodyPr>
          <a:lstStyle/>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 Both the classes are not in proportion.</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 Which means that the dataset is imbalanced.</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 Data balancing is required.</a:t>
            </a:r>
          </a:p>
          <a:p>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6" name="Title 1"/>
          <p:cNvSpPr txBox="1">
            <a:spLocks/>
          </p:cNvSpPr>
          <p:nvPr/>
        </p:nvSpPr>
        <p:spPr>
          <a:xfrm>
            <a:off x="509558" y="3081334"/>
            <a:ext cx="8229600" cy="3643338"/>
          </a:xfrm>
          <a:prstGeom prst="rect">
            <a:avLst/>
          </a:prstGeom>
        </p:spPr>
        <p:txBody>
          <a:bodyPr vert="horz" lIns="91440" tIns="45720" rIns="91440" bIns="45720" rtlCol="0" anchor="ctr">
            <a:normAutofit/>
          </a:bodyPr>
          <a:lstStyle/>
          <a:p>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9" name="Title 1"/>
          <p:cNvSpPr>
            <a:spLocks noGrp="1"/>
          </p:cNvSpPr>
          <p:nvPr>
            <p:ph type="title"/>
          </p:nvPr>
        </p:nvSpPr>
        <p:spPr>
          <a:xfrm>
            <a:off x="357158" y="714356"/>
            <a:ext cx="8572560" cy="1143000"/>
          </a:xfrm>
        </p:spPr>
        <p:txBody>
          <a:bodyPr>
            <a:normAutofit/>
          </a:bodyPr>
          <a:lstStyle/>
          <a:p>
            <a:pPr algn="l"/>
            <a:r>
              <a:rPr lang="en-IN" sz="4000" b="1" dirty="0" smtClean="0">
                <a:solidFill>
                  <a:srgbClr val="FF0000"/>
                </a:solidFill>
                <a:latin typeface="Times New Roman" pitchFamily="18" charset="0"/>
                <a:cs typeface="Times New Roman" pitchFamily="18" charset="0"/>
              </a:rPr>
              <a:t>4. Exploratory Data Analysis (EDA) :  </a:t>
            </a:r>
            <a:endParaRPr lang="en-IN" sz="4000" b="1" dirty="0">
              <a:solidFill>
                <a:srgbClr val="FF0000"/>
              </a:solidFill>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IN" sz="4000" b="1" dirty="0" smtClean="0">
                <a:solidFill>
                  <a:srgbClr val="FF0000"/>
                </a:solidFill>
                <a:latin typeface="Times New Roman" pitchFamily="18" charset="0"/>
                <a:cs typeface="Times New Roman" pitchFamily="18" charset="0"/>
              </a:rPr>
              <a:t>EDA (Continued) :</a:t>
            </a:r>
            <a:endParaRPr lang="en-IN" sz="4000" b="1" dirty="0">
              <a:solidFill>
                <a:srgbClr val="FF0000"/>
              </a:solidFill>
              <a:latin typeface="Times New Roman" pitchFamily="18" charset="0"/>
              <a:cs typeface="Times New Roman" pitchFamily="18" charset="0"/>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10" name="Title 1"/>
          <p:cNvSpPr txBox="1">
            <a:spLocks/>
          </p:cNvSpPr>
          <p:nvPr/>
        </p:nvSpPr>
        <p:spPr>
          <a:xfrm>
            <a:off x="571472" y="3500438"/>
            <a:ext cx="7786742" cy="3000396"/>
          </a:xfrm>
          <a:prstGeom prst="rect">
            <a:avLst/>
          </a:prstGeom>
        </p:spPr>
        <p:txBody>
          <a:bodyPr vert="horz" lIns="91440" tIns="45720" rIns="91440" bIns="45720" rtlCol="0" anchor="ctr">
            <a:normAutofit/>
          </a:bodyPr>
          <a:lstStyle/>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Female credit card holders are larger than the male credit card     holders.</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 As the number of female credit card holders is larger than the male, their credit card defaults are also higher than male.</a:t>
            </a:r>
          </a:p>
        </p:txBody>
      </p:sp>
      <p:pic>
        <p:nvPicPr>
          <p:cNvPr id="3075" name="Picture 3"/>
          <p:cNvPicPr>
            <a:picLocks noChangeAspect="1" noChangeArrowheads="1"/>
          </p:cNvPicPr>
          <p:nvPr/>
        </p:nvPicPr>
        <p:blipFill>
          <a:blip r:embed="rId3"/>
          <a:srcRect/>
          <a:stretch>
            <a:fillRect/>
          </a:stretch>
        </p:blipFill>
        <p:spPr bwMode="auto">
          <a:xfrm>
            <a:off x="714348" y="1357298"/>
            <a:ext cx="7553320" cy="2789346"/>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latin typeface="Times New Roman" pitchFamily="18" charset="0"/>
                <a:cs typeface="Times New Roman" pitchFamily="18" charset="0"/>
              </a:rPr>
              <a:t>EDA (Continued) :</a:t>
            </a:r>
            <a:endParaRPr lang="en-IN" sz="4000" b="1" dirty="0">
              <a:solidFill>
                <a:srgbClr val="FF0000"/>
              </a:solidFill>
              <a:latin typeface="Times New Roman" pitchFamily="18" charset="0"/>
              <a:cs typeface="Times New Roman" pitchFamily="18" charset="0"/>
            </a:endParaRPr>
          </a:p>
        </p:txBody>
      </p:sp>
      <p:sp>
        <p:nvSpPr>
          <p:cNvPr id="5" name="Title 1"/>
          <p:cNvSpPr txBox="1">
            <a:spLocks/>
          </p:cNvSpPr>
          <p:nvPr/>
        </p:nvSpPr>
        <p:spPr>
          <a:xfrm>
            <a:off x="357158" y="3857628"/>
            <a:ext cx="8215370" cy="2714644"/>
          </a:xfrm>
          <a:prstGeom prst="rect">
            <a:avLst/>
          </a:prstGeom>
        </p:spPr>
        <p:txBody>
          <a:bodyPr vert="horz" lIns="91440" tIns="45720" rIns="91440" bIns="45720" rtlCol="0" anchor="ctr">
            <a:normAutofit/>
          </a:bodyPr>
          <a:lstStyle/>
          <a:p>
            <a:endParaRPr lang="en-IN" sz="2400" dirty="0" smtClean="0"/>
          </a:p>
          <a:p>
            <a:r>
              <a:rPr lang="en-IN" sz="2200" dirty="0" smtClean="0">
                <a:latin typeface="Times New Roman" pitchFamily="18" charset="0"/>
                <a:cs typeface="Times New Roman" pitchFamily="18" charset="0"/>
              </a:rPr>
              <a:t>University and graduate school has maximum credit card holder.</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As the number of university and graduate school credit card holders is higher, their credit card default are also higher.</a:t>
            </a:r>
          </a:p>
          <a:p>
            <a:endParaRPr kumimoji="0" lang="en-IN"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714348" y="1428736"/>
            <a:ext cx="7915388" cy="2690932"/>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EDA (Continued) :</a:t>
            </a:r>
            <a:endParaRPr lang="en-IN" b="1" dirty="0">
              <a:solidFill>
                <a:srgbClr val="FF0000"/>
              </a:solidFill>
              <a:latin typeface="Times New Roman" pitchFamily="18" charset="0"/>
              <a:cs typeface="Times New Roman" pitchFamily="18" charset="0"/>
            </a:endParaRPr>
          </a:p>
        </p:txBody>
      </p:sp>
      <p:sp>
        <p:nvSpPr>
          <p:cNvPr id="5" name="Title 1"/>
          <p:cNvSpPr txBox="1">
            <a:spLocks/>
          </p:cNvSpPr>
          <p:nvPr/>
        </p:nvSpPr>
        <p:spPr>
          <a:xfrm>
            <a:off x="428596" y="3500438"/>
            <a:ext cx="7858180" cy="3071834"/>
          </a:xfrm>
          <a:prstGeom prst="rect">
            <a:avLst/>
          </a:prstGeom>
        </p:spPr>
        <p:txBody>
          <a:bodyPr vert="horz" lIns="91440" tIns="45720" rIns="91440" bIns="45720" rtlCol="0" anchor="ctr">
            <a:normAutofit/>
          </a:bodyPr>
          <a:lstStyle/>
          <a:p>
            <a:endParaRPr lang="en-IN" sz="4400" dirty="0" smtClean="0"/>
          </a:p>
          <a:p>
            <a:endParaRPr lang="en-IN" sz="2600" dirty="0" smtClean="0">
              <a:latin typeface="Times New Roman" pitchFamily="18" charset="0"/>
              <a:cs typeface="Times New Roman" pitchFamily="18" charset="0"/>
            </a:endParaRPr>
          </a:p>
          <a:p>
            <a:r>
              <a:rPr lang="en-IN" sz="2600" dirty="0" smtClean="0">
                <a:latin typeface="Times New Roman" pitchFamily="18" charset="0"/>
                <a:cs typeface="Times New Roman" pitchFamily="18" charset="0"/>
              </a:rPr>
              <a:t>Number of credit card holder is maximum in singles.</a:t>
            </a:r>
          </a:p>
          <a:p>
            <a:endParaRPr lang="en-IN" sz="2600" dirty="0" smtClean="0">
              <a:latin typeface="Times New Roman" pitchFamily="18" charset="0"/>
              <a:cs typeface="Times New Roman" pitchFamily="18" charset="0"/>
            </a:endParaRPr>
          </a:p>
          <a:p>
            <a:r>
              <a:rPr lang="en-IN" sz="2600" dirty="0" smtClean="0">
                <a:latin typeface="Times New Roman" pitchFamily="18" charset="0"/>
                <a:cs typeface="Times New Roman" pitchFamily="18" charset="0"/>
              </a:rPr>
              <a:t>But credit card defaults are almost same in case of single and married people.</a:t>
            </a:r>
          </a:p>
          <a:p>
            <a:endParaRPr kumimoji="0" lang="en-IN" sz="4400" b="0" i="0" u="none" strike="noStrike" kern="1200" cap="none" spc="0" normalizeH="0" baseline="0" noProof="0" dirty="0">
              <a:ln>
                <a:noFill/>
              </a:ln>
              <a:solidFill>
                <a:srgbClr val="FF0000"/>
              </a:solidFill>
              <a:effectLst/>
              <a:uLnTx/>
              <a:uFillTx/>
              <a:latin typeface="+mj-lt"/>
              <a:ea typeface="+mj-ea"/>
              <a:cs typeface="+mj-cs"/>
            </a:endParaRPr>
          </a:p>
        </p:txBody>
      </p:sp>
      <p:pic>
        <p:nvPicPr>
          <p:cNvPr id="7"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5122" name="Picture 2"/>
          <p:cNvPicPr>
            <a:picLocks noChangeAspect="1" noChangeArrowheads="1"/>
          </p:cNvPicPr>
          <p:nvPr/>
        </p:nvPicPr>
        <p:blipFill>
          <a:blip r:embed="rId3"/>
          <a:srcRect/>
          <a:stretch>
            <a:fillRect/>
          </a:stretch>
        </p:blipFill>
        <p:spPr bwMode="auto">
          <a:xfrm>
            <a:off x="928662" y="1142984"/>
            <a:ext cx="7419968" cy="301409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5. Handling Class Imbalance :</a:t>
            </a:r>
            <a:endParaRPr lang="en-IN" b="1" dirty="0">
              <a:solidFill>
                <a:srgbClr val="FF0000"/>
              </a:solidFill>
              <a:latin typeface="Times New Roman" pitchFamily="18" charset="0"/>
              <a:cs typeface="Times New Roman" pitchFamily="18" charset="0"/>
            </a:endParaRPr>
          </a:p>
        </p:txBody>
      </p:sp>
      <p:sp>
        <p:nvSpPr>
          <p:cNvPr id="6" name="Title 1"/>
          <p:cNvSpPr txBox="1">
            <a:spLocks/>
          </p:cNvSpPr>
          <p:nvPr/>
        </p:nvSpPr>
        <p:spPr>
          <a:xfrm>
            <a:off x="500034" y="1643050"/>
            <a:ext cx="8429684" cy="4857784"/>
          </a:xfrm>
          <a:prstGeom prst="rect">
            <a:avLst/>
          </a:prstGeom>
        </p:spPr>
        <p:txBody>
          <a:bodyPr vert="horz" lIns="91440" tIns="45720" rIns="91440" bIns="45720" rtlCol="0" anchor="ctr">
            <a:normAutofit/>
          </a:bodyPr>
          <a:lstStyle/>
          <a:p>
            <a:r>
              <a:rPr lang="en-IN" sz="2200" dirty="0" smtClean="0">
                <a:latin typeface="Times New Roman" pitchFamily="18" charset="0"/>
                <a:cs typeface="Times New Roman" pitchFamily="18" charset="0"/>
              </a:rPr>
              <a:t>To balance the proportion, we have used a technique called SMOTE.</a:t>
            </a:r>
          </a:p>
          <a:p>
            <a:endParaRPr lang="en-US" sz="2200" dirty="0" smtClean="0">
              <a:latin typeface="Times New Roman" pitchFamily="18" charset="0"/>
              <a:cs typeface="Times New Roman" pitchFamily="18" charset="0"/>
            </a:endParaRPr>
          </a:p>
          <a:p>
            <a:endParaRPr lang="en-IN" sz="22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SMOTE :-</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Also called Synthetic Minority Oversampling Technique.</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It is the technique to make data class balanced.</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SMOTE works by selecting examples that are close in the feature space,  drawing a line between the examples in the feature space and drawing a new sample at a point along that line.</a:t>
            </a:r>
          </a:p>
          <a:p>
            <a:endParaRPr kumimoji="0" lang="en-IN" sz="4400" b="0" i="0" u="none" strike="noStrike" kern="1200" cap="none" spc="0" normalizeH="0" baseline="0" noProof="0" dirty="0">
              <a:ln>
                <a:noFill/>
              </a:ln>
              <a:solidFill>
                <a:srgbClr val="FF0000"/>
              </a:solidFill>
              <a:effectLst/>
              <a:uLnTx/>
              <a:uFillTx/>
              <a:latin typeface="+mj-lt"/>
              <a:ea typeface="+mj-ea"/>
              <a:cs typeface="+mj-cs"/>
            </a:endParaRPr>
          </a:p>
        </p:txBody>
      </p:sp>
      <p:pic>
        <p:nvPicPr>
          <p:cNvPr id="5"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85728"/>
            <a:ext cx="8229600" cy="1143000"/>
          </a:xfrm>
        </p:spPr>
        <p:txBody>
          <a:bodyPr>
            <a:normAutofit fontScale="90000"/>
          </a:bodyPr>
          <a:lstStyle/>
          <a:p>
            <a:pPr algn="l"/>
            <a:r>
              <a:rPr lang="en-IN" sz="4000" b="1" dirty="0" smtClean="0">
                <a:solidFill>
                  <a:srgbClr val="FF0000"/>
                </a:solidFill>
                <a:latin typeface="Times New Roman" pitchFamily="18" charset="0"/>
                <a:cs typeface="Times New Roman" pitchFamily="18" charset="0"/>
              </a:rPr>
              <a:t>Handling Class Imbalance (Continued)</a:t>
            </a:r>
            <a:endParaRPr lang="en-IN" sz="4000" b="1" dirty="0">
              <a:solidFill>
                <a:srgbClr val="FF0000"/>
              </a:solidFill>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7" name="Title 1"/>
          <p:cNvSpPr txBox="1">
            <a:spLocks/>
          </p:cNvSpPr>
          <p:nvPr/>
        </p:nvSpPr>
        <p:spPr>
          <a:xfrm>
            <a:off x="428596" y="1071546"/>
            <a:ext cx="8429684" cy="2143140"/>
          </a:xfrm>
          <a:prstGeom prst="rect">
            <a:avLst/>
          </a:prstGeom>
        </p:spPr>
        <p:txBody>
          <a:bodyPr vert="horz" lIns="91440" tIns="45720" rIns="91440" bIns="45720" rtlCol="0" anchor="ctr">
            <a:normAutofit/>
          </a:bodyPr>
          <a:lstStyle/>
          <a:p>
            <a:endParaRPr lang="en-IN" sz="4400" dirty="0" smtClean="0"/>
          </a:p>
          <a:p>
            <a:r>
              <a:rPr lang="en-IN" sz="2200" dirty="0" smtClean="0">
                <a:latin typeface="Times New Roman" pitchFamily="18" charset="0"/>
                <a:cs typeface="Times New Roman" pitchFamily="18" charset="0"/>
              </a:rPr>
              <a:t>This the plotting of the dataset before and after the application of SMOTE.</a:t>
            </a:r>
          </a:p>
          <a:p>
            <a:endParaRPr kumimoji="0" lang="en-IN" sz="4400" b="0" i="0" u="none" strike="noStrike" kern="1200" cap="none" spc="0" normalizeH="0" baseline="0" noProof="0" dirty="0">
              <a:ln>
                <a:noFill/>
              </a:ln>
              <a:solidFill>
                <a:srgbClr val="FF0000"/>
              </a:solidFill>
              <a:effectLst/>
              <a:uLnTx/>
              <a:uFillTx/>
              <a:latin typeface="+mj-lt"/>
              <a:ea typeface="+mj-ea"/>
              <a:cs typeface="+mj-cs"/>
            </a:endParaRPr>
          </a:p>
        </p:txBody>
      </p:sp>
      <p:pic>
        <p:nvPicPr>
          <p:cNvPr id="6146" name="Picture 2"/>
          <p:cNvPicPr>
            <a:picLocks noChangeAspect="1" noChangeArrowheads="1"/>
          </p:cNvPicPr>
          <p:nvPr/>
        </p:nvPicPr>
        <p:blipFill>
          <a:blip r:embed="rId3"/>
          <a:srcRect/>
          <a:stretch>
            <a:fillRect/>
          </a:stretch>
        </p:blipFill>
        <p:spPr bwMode="auto">
          <a:xfrm>
            <a:off x="214282" y="3071810"/>
            <a:ext cx="8686856" cy="326598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357158" y="1428736"/>
            <a:ext cx="8229600" cy="2428892"/>
          </a:xfrm>
          <a:prstGeom prst="rect">
            <a:avLst/>
          </a:prstGeom>
        </p:spPr>
        <p:txBody>
          <a:bodyPr vert="horz" lIns="91440" tIns="45720" rIns="91440" bIns="45720" rtlCol="0" anchor="ctr">
            <a:normAutofit/>
          </a:bodyPr>
          <a:lstStyle/>
          <a:p>
            <a:endParaRPr lang="en-IN" sz="2400" dirty="0" smtClean="0"/>
          </a:p>
          <a:p>
            <a:r>
              <a:rPr lang="en-IN" sz="2200" dirty="0" smtClean="0">
                <a:latin typeface="Times New Roman" pitchFamily="18" charset="0"/>
                <a:cs typeface="Times New Roman" pitchFamily="18" charset="0"/>
              </a:rPr>
              <a:t>To scale data into a uniform format that would allow us to utilize the data in a better way.</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For performing fitting and applying different algorithms to it. The basic goal was to enforce a level of consistency or uniformity to dataset.</a:t>
            </a:r>
          </a:p>
        </p:txBody>
      </p:sp>
      <p:pic>
        <p:nvPicPr>
          <p:cNvPr id="6"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8" name="Title 1"/>
          <p:cNvSpPr>
            <a:spLocks noGrp="1"/>
          </p:cNvSpPr>
          <p:nvPr>
            <p:ph type="title"/>
          </p:nvPr>
        </p:nvSpPr>
        <p:spPr>
          <a:xfrm>
            <a:off x="285720" y="285728"/>
            <a:ext cx="8229600" cy="1143000"/>
          </a:xfrm>
        </p:spPr>
        <p:txBody>
          <a:bodyPr>
            <a:normAutofit/>
          </a:bodyPr>
          <a:lstStyle/>
          <a:p>
            <a:pPr algn="l"/>
            <a:r>
              <a:rPr lang="en-IN" sz="3600" b="1" dirty="0" smtClean="0">
                <a:solidFill>
                  <a:srgbClr val="FF0000"/>
                </a:solidFill>
                <a:latin typeface="Times New Roman" pitchFamily="18" charset="0"/>
                <a:cs typeface="Times New Roman" pitchFamily="18" charset="0"/>
              </a:rPr>
              <a:t>6. Transformation of Data :</a:t>
            </a:r>
            <a:endParaRPr lang="en-IN" sz="4000" b="1" dirty="0">
              <a:solidFill>
                <a:srgbClr val="FF0000"/>
              </a:solidFill>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3"/>
          <a:srcRect/>
          <a:stretch>
            <a:fillRect/>
          </a:stretch>
        </p:blipFill>
        <p:spPr bwMode="auto">
          <a:xfrm>
            <a:off x="642910" y="4000504"/>
            <a:ext cx="7524750" cy="25241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latin typeface="Times New Roman" pitchFamily="18" charset="0"/>
                <a:cs typeface="Times New Roman" pitchFamily="18" charset="0"/>
              </a:rPr>
              <a:t>7. </a:t>
            </a:r>
            <a:r>
              <a:rPr lang="en-IN" sz="4000" b="1" dirty="0" err="1" smtClean="0">
                <a:solidFill>
                  <a:srgbClr val="FF0000"/>
                </a:solidFill>
                <a:latin typeface="Times New Roman" pitchFamily="18" charset="0"/>
                <a:cs typeface="Times New Roman" pitchFamily="18" charset="0"/>
              </a:rPr>
              <a:t>SplittingData</a:t>
            </a:r>
            <a:r>
              <a:rPr lang="en-IN" sz="4000" b="1" dirty="0" smtClean="0">
                <a:solidFill>
                  <a:srgbClr val="FF0000"/>
                </a:solidFill>
                <a:latin typeface="Times New Roman" pitchFamily="18" charset="0"/>
                <a:cs typeface="Times New Roman" pitchFamily="18" charset="0"/>
              </a:rPr>
              <a:t> :</a:t>
            </a:r>
            <a:endParaRPr lang="en-IN"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8229600" cy="2757494"/>
          </a:xfrm>
        </p:spPr>
        <p:txBody>
          <a:bodyPr>
            <a:normAutofit/>
          </a:bodyPr>
          <a:lstStyle/>
          <a:p>
            <a:endParaRPr lang="en-IN" sz="2800" dirty="0" smtClean="0"/>
          </a:p>
          <a:p>
            <a:r>
              <a:rPr lang="en-IN" sz="2200" dirty="0" err="1" smtClean="0">
                <a:latin typeface="Times New Roman" pitchFamily="18" charset="0"/>
                <a:cs typeface="Times New Roman" pitchFamily="18" charset="0"/>
              </a:rPr>
              <a:t>Splited</a:t>
            </a:r>
            <a:r>
              <a:rPr lang="en-IN" sz="2200" dirty="0" smtClean="0">
                <a:latin typeface="Times New Roman" pitchFamily="18" charset="0"/>
                <a:cs typeface="Times New Roman" pitchFamily="18" charset="0"/>
              </a:rPr>
              <a:t> the data into training dataset and testing dataset.</a:t>
            </a:r>
          </a:p>
          <a:p>
            <a:r>
              <a:rPr lang="en-IN" sz="2200" dirty="0" smtClean="0">
                <a:latin typeface="Times New Roman" pitchFamily="18" charset="0"/>
                <a:cs typeface="Times New Roman" pitchFamily="18" charset="0"/>
              </a:rPr>
              <a:t>Training dataset is for making algorithm learn and train model.</a:t>
            </a:r>
          </a:p>
          <a:p>
            <a:r>
              <a:rPr lang="en-IN" sz="2200" dirty="0" smtClean="0">
                <a:latin typeface="Times New Roman" pitchFamily="18" charset="0"/>
                <a:cs typeface="Times New Roman" pitchFamily="18" charset="0"/>
              </a:rPr>
              <a:t>Test dataset is for testing the performance of train model.</a:t>
            </a:r>
          </a:p>
          <a:p>
            <a:r>
              <a:rPr lang="en-IN" sz="2200" dirty="0" smtClean="0">
                <a:latin typeface="Times New Roman" pitchFamily="18" charset="0"/>
                <a:cs typeface="Times New Roman" pitchFamily="18" charset="0"/>
              </a:rPr>
              <a:t>Here 80% of data taken as training dataset &amp; remaining 20% of dataset used for testing purpose.</a:t>
            </a:r>
          </a:p>
          <a:p>
            <a:pPr>
              <a:buNone/>
            </a:pPr>
            <a:endParaRPr lang="en-IN" sz="2800" dirty="0"/>
          </a:p>
        </p:txBody>
      </p:sp>
      <p:pic>
        <p:nvPicPr>
          <p:cNvPr id="4"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8194" name="Picture 2"/>
          <p:cNvPicPr>
            <a:picLocks noChangeAspect="1" noChangeArrowheads="1"/>
          </p:cNvPicPr>
          <p:nvPr/>
        </p:nvPicPr>
        <p:blipFill>
          <a:blip r:embed="rId3"/>
          <a:srcRect/>
          <a:stretch>
            <a:fillRect/>
          </a:stretch>
        </p:blipFill>
        <p:spPr bwMode="auto">
          <a:xfrm>
            <a:off x="1142976" y="4000504"/>
            <a:ext cx="6867598" cy="266702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10" name="Title 1"/>
          <p:cNvSpPr>
            <a:spLocks noGrp="1"/>
          </p:cNvSpPr>
          <p:nvPr>
            <p:ph type="title"/>
          </p:nvPr>
        </p:nvSpPr>
        <p:spPr>
          <a:xfrm>
            <a:off x="457200" y="274638"/>
            <a:ext cx="8229600" cy="1143000"/>
          </a:xfrm>
        </p:spPr>
        <p:txBody>
          <a:bodyPr>
            <a:normAutofit/>
          </a:bodyPr>
          <a:lstStyle/>
          <a:p>
            <a:pPr algn="l"/>
            <a:r>
              <a:rPr lang="en-IN" sz="4000" b="1" dirty="0" smtClean="0">
                <a:solidFill>
                  <a:srgbClr val="FF0000"/>
                </a:solidFill>
                <a:latin typeface="Times New Roman" pitchFamily="18" charset="0"/>
                <a:cs typeface="Times New Roman" pitchFamily="18" charset="0"/>
              </a:rPr>
              <a:t>8. Fitting Different Model :</a:t>
            </a:r>
            <a:endParaRPr lang="en-IN" sz="4000" b="1" dirty="0">
              <a:solidFill>
                <a:srgbClr val="FF0000"/>
              </a:solidFill>
              <a:latin typeface="Times New Roman" pitchFamily="18" charset="0"/>
              <a:cs typeface="Times New Roman" pitchFamily="18" charset="0"/>
            </a:endParaRPr>
          </a:p>
        </p:txBody>
      </p:sp>
      <p:sp>
        <p:nvSpPr>
          <p:cNvPr id="11" name="Content Placeholder 2"/>
          <p:cNvSpPr>
            <a:spLocks noGrp="1"/>
          </p:cNvSpPr>
          <p:nvPr>
            <p:ph idx="1"/>
          </p:nvPr>
        </p:nvSpPr>
        <p:spPr>
          <a:xfrm>
            <a:off x="457200" y="2071678"/>
            <a:ext cx="8229600" cy="4286279"/>
          </a:xfrm>
        </p:spPr>
        <p:txBody>
          <a:bodyPr>
            <a:normAutofit/>
          </a:bodyPr>
          <a:lstStyle/>
          <a:p>
            <a:pPr>
              <a:buNone/>
            </a:pPr>
            <a:r>
              <a:rPr lang="en-IN" sz="2200" dirty="0" smtClean="0">
                <a:latin typeface="Times New Roman" pitchFamily="18" charset="0"/>
                <a:cs typeface="Times New Roman" pitchFamily="18" charset="0"/>
              </a:rPr>
              <a:t>Following classifier used for prediction credit card default :</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Logistic Regression</a:t>
            </a:r>
          </a:p>
          <a:p>
            <a:r>
              <a:rPr lang="en-IN" sz="2200" dirty="0" smtClean="0">
                <a:latin typeface="Times New Roman" pitchFamily="18" charset="0"/>
                <a:cs typeface="Times New Roman" pitchFamily="18" charset="0"/>
              </a:rPr>
              <a:t>Decision Tree Classifier</a:t>
            </a:r>
          </a:p>
          <a:p>
            <a:r>
              <a:rPr lang="en-IN" sz="2200" dirty="0" smtClean="0">
                <a:latin typeface="Times New Roman" pitchFamily="18" charset="0"/>
                <a:cs typeface="Times New Roman" pitchFamily="18" charset="0"/>
              </a:rPr>
              <a:t>Random Forest Classifier</a:t>
            </a:r>
          </a:p>
          <a:p>
            <a:r>
              <a:rPr lang="en-IN" sz="2200" dirty="0" smtClean="0">
                <a:latin typeface="Times New Roman" pitchFamily="18" charset="0"/>
                <a:cs typeface="Times New Roman" pitchFamily="18" charset="0"/>
              </a:rPr>
              <a:t>Support Vector Machine</a:t>
            </a:r>
          </a:p>
          <a:p>
            <a:r>
              <a:rPr lang="en-IN" sz="2200" dirty="0" smtClean="0">
                <a:latin typeface="Times New Roman" pitchFamily="18" charset="0"/>
                <a:cs typeface="Times New Roman" pitchFamily="18" charset="0"/>
              </a:rPr>
              <a:t>Gradient Boosting</a:t>
            </a:r>
          </a:p>
          <a:p>
            <a:r>
              <a:rPr lang="en-IN" sz="2200" dirty="0" err="1" smtClean="0">
                <a:latin typeface="Times New Roman" pitchFamily="18" charset="0"/>
                <a:cs typeface="Times New Roman" pitchFamily="18" charset="0"/>
              </a:rPr>
              <a:t>XGBoosting</a:t>
            </a:r>
            <a:endParaRPr lang="en-IN" sz="22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4786314" y="428604"/>
            <a:ext cx="4114800" cy="621510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5"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8" name="Title 1"/>
          <p:cNvSpPr>
            <a:spLocks noGrp="1"/>
          </p:cNvSpPr>
          <p:nvPr>
            <p:ph type="title"/>
          </p:nvPr>
        </p:nvSpPr>
        <p:spPr>
          <a:xfrm>
            <a:off x="457200" y="274638"/>
            <a:ext cx="8229600" cy="1143000"/>
          </a:xfrm>
        </p:spPr>
        <p:txBody>
          <a:bodyPr>
            <a:normAutofit/>
          </a:bodyPr>
          <a:lstStyle/>
          <a:p>
            <a:pPr algn="l"/>
            <a:r>
              <a:rPr lang="en-IN" sz="3100" b="1" dirty="0" smtClean="0">
                <a:solidFill>
                  <a:srgbClr val="FF0000"/>
                </a:solidFill>
                <a:latin typeface="Times New Roman" pitchFamily="18" charset="0"/>
                <a:cs typeface="Times New Roman" pitchFamily="18" charset="0"/>
              </a:rPr>
              <a:t>9. </a:t>
            </a:r>
            <a:r>
              <a:rPr lang="en-IN" sz="3100" b="1" dirty="0" err="1" smtClean="0">
                <a:solidFill>
                  <a:srgbClr val="FF0000"/>
                </a:solidFill>
                <a:latin typeface="Times New Roman" pitchFamily="18" charset="0"/>
                <a:cs typeface="Times New Roman" pitchFamily="18" charset="0"/>
              </a:rPr>
              <a:t>CrossValidation&amp;HyperparameterTuning</a:t>
            </a:r>
            <a:r>
              <a:rPr lang="en-IN" sz="3100" b="1" dirty="0" smtClean="0">
                <a:solidFill>
                  <a:srgbClr val="FF0000"/>
                </a:solidFill>
                <a:latin typeface="Times New Roman" pitchFamily="18" charset="0"/>
                <a:cs typeface="Times New Roman" pitchFamily="18" charset="0"/>
              </a:rPr>
              <a:t> :-</a:t>
            </a:r>
            <a:endParaRPr lang="en-IN" sz="3100" b="1" dirty="0">
              <a:solidFill>
                <a:srgbClr val="FF0000"/>
              </a:solidFill>
              <a:latin typeface="Times New Roman" pitchFamily="18" charset="0"/>
              <a:cs typeface="Times New Roman" pitchFamily="18" charset="0"/>
            </a:endParaRPr>
          </a:p>
        </p:txBody>
      </p:sp>
      <p:sp>
        <p:nvSpPr>
          <p:cNvPr id="11" name="Title 1"/>
          <p:cNvSpPr txBox="1">
            <a:spLocks/>
          </p:cNvSpPr>
          <p:nvPr/>
        </p:nvSpPr>
        <p:spPr>
          <a:xfrm>
            <a:off x="500034" y="857232"/>
            <a:ext cx="7929618" cy="5214974"/>
          </a:xfrm>
          <a:prstGeom prst="rect">
            <a:avLst/>
          </a:prstGeom>
        </p:spPr>
        <p:txBody>
          <a:bodyPr vert="horz" lIns="91440" tIns="45720" rIns="91440" bIns="45720" rtlCol="0" anchor="ctr">
            <a:normAutofit/>
          </a:bodyPr>
          <a:lstStyle/>
          <a:p>
            <a:endParaRPr lang="en-IN" sz="2400" dirty="0" smtClean="0"/>
          </a:p>
          <a:p>
            <a:r>
              <a:rPr lang="en-IN" sz="2200" dirty="0" smtClean="0">
                <a:latin typeface="Times New Roman" pitchFamily="18" charset="0"/>
                <a:cs typeface="Times New Roman" pitchFamily="18" charset="0"/>
              </a:rPr>
              <a:t>It is are sampling procedure used to evaluate machine learning model </a:t>
            </a:r>
            <a:r>
              <a:rPr lang="en-IN" sz="2200" dirty="0" err="1" smtClean="0">
                <a:latin typeface="Times New Roman" pitchFamily="18" charset="0"/>
                <a:cs typeface="Times New Roman" pitchFamily="18" charset="0"/>
              </a:rPr>
              <a:t>sona</a:t>
            </a:r>
            <a:r>
              <a:rPr lang="en-IN" sz="2200" dirty="0" smtClean="0">
                <a:latin typeface="Times New Roman" pitchFamily="18" charset="0"/>
                <a:cs typeface="Times New Roman" pitchFamily="18" charset="0"/>
              </a:rPr>
              <a:t> limited data sample.</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Basically , </a:t>
            </a:r>
            <a:r>
              <a:rPr lang="en-IN" sz="2200" dirty="0" err="1" smtClean="0">
                <a:latin typeface="Times New Roman" pitchFamily="18" charset="0"/>
                <a:cs typeface="Times New Roman" pitchFamily="18" charset="0"/>
              </a:rPr>
              <a:t>CrossValidation</a:t>
            </a:r>
            <a:r>
              <a:rPr lang="en-IN" sz="2200" dirty="0" smtClean="0">
                <a:latin typeface="Times New Roman" pitchFamily="18" charset="0"/>
                <a:cs typeface="Times New Roman" pitchFamily="18" charset="0"/>
              </a:rPr>
              <a:t> is a technique mainly used in settings where the goal is prediction , and one wants to estimate how accurately a predictive model will perform in practice.</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Tuning the </a:t>
            </a:r>
            <a:r>
              <a:rPr lang="en-IN" sz="2200" dirty="0" err="1" smtClean="0">
                <a:latin typeface="Times New Roman" pitchFamily="18" charset="0"/>
                <a:cs typeface="Times New Roman" pitchFamily="18" charset="0"/>
              </a:rPr>
              <a:t>hyperparameters</a:t>
            </a:r>
            <a:r>
              <a:rPr lang="en-IN" sz="2200" dirty="0" smtClean="0">
                <a:latin typeface="Times New Roman" pitchFamily="18" charset="0"/>
                <a:cs typeface="Times New Roman" pitchFamily="18" charset="0"/>
              </a:rPr>
              <a:t> of respective algorithms is necessary for</a:t>
            </a:r>
          </a:p>
          <a:p>
            <a:r>
              <a:rPr lang="en-IN" sz="2200" dirty="0" smtClean="0">
                <a:latin typeface="Times New Roman" pitchFamily="18" charset="0"/>
                <a:cs typeface="Times New Roman" pitchFamily="18" charset="0"/>
              </a:rPr>
              <a:t>Getting better accuracy and to avoid over fitting.</a:t>
            </a:r>
          </a:p>
          <a:p>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dirty="0" smtClean="0">
                <a:solidFill>
                  <a:srgbClr val="FF0000"/>
                </a:solidFill>
                <a:latin typeface="Times New Roman" pitchFamily="18" charset="0"/>
                <a:cs typeface="Times New Roman" pitchFamily="18" charset="0"/>
              </a:rPr>
              <a:t>Logistic Regression :</a:t>
            </a:r>
            <a:endParaRPr lang="en-IN" sz="4000" b="1" dirty="0">
              <a:solidFill>
                <a:srgbClr val="FF0000"/>
              </a:solidFill>
              <a:latin typeface="Times New Roman" pitchFamily="18" charset="0"/>
              <a:cs typeface="Times New Roman" pitchFamily="18" charset="0"/>
            </a:endParaRPr>
          </a:p>
        </p:txBody>
      </p:sp>
      <p:sp>
        <p:nvSpPr>
          <p:cNvPr id="6" name="Content Placeholder 5"/>
          <p:cNvSpPr>
            <a:spLocks noGrp="1"/>
          </p:cNvSpPr>
          <p:nvPr>
            <p:ph idx="1"/>
          </p:nvPr>
        </p:nvSpPr>
        <p:spPr>
          <a:xfrm>
            <a:off x="457200" y="1357298"/>
            <a:ext cx="8229600" cy="2786082"/>
          </a:xfrm>
        </p:spPr>
        <p:txBody>
          <a:bodyPr>
            <a:noAutofit/>
          </a:bodyPr>
          <a:lstStyle/>
          <a:p>
            <a:endParaRPr lang="en-IN" sz="1800" dirty="0" smtClean="0"/>
          </a:p>
          <a:p>
            <a:r>
              <a:rPr lang="en-IN" sz="2200" dirty="0" smtClean="0">
                <a:latin typeface="Times New Roman" pitchFamily="18" charset="0"/>
                <a:cs typeface="Times New Roman" pitchFamily="18" charset="0"/>
              </a:rPr>
              <a:t>Logistic regression is a machine learning algorithm for classification problem.</a:t>
            </a:r>
          </a:p>
          <a:p>
            <a:r>
              <a:rPr lang="en-IN" sz="2200" dirty="0" smtClean="0">
                <a:latin typeface="Times New Roman" pitchFamily="18" charset="0"/>
                <a:cs typeface="Times New Roman" pitchFamily="18" charset="0"/>
              </a:rPr>
              <a:t>In this algorithm , the probabilities describing the possible outcomes of a single trial are model le </a:t>
            </a:r>
            <a:r>
              <a:rPr lang="en-IN" sz="2200" dirty="0" err="1" smtClean="0">
                <a:latin typeface="Times New Roman" pitchFamily="18" charset="0"/>
                <a:cs typeface="Times New Roman" pitchFamily="18" charset="0"/>
              </a:rPr>
              <a:t>dusinga</a:t>
            </a:r>
            <a:r>
              <a:rPr lang="en-IN" sz="2200" dirty="0" smtClean="0">
                <a:latin typeface="Times New Roman" pitchFamily="18" charset="0"/>
                <a:cs typeface="Times New Roman" pitchFamily="18" charset="0"/>
              </a:rPr>
              <a:t> logistic function.</a:t>
            </a:r>
          </a:p>
          <a:p>
            <a:r>
              <a:rPr lang="en-IN" sz="2200" dirty="0" smtClean="0">
                <a:latin typeface="Times New Roman" pitchFamily="18" charset="0"/>
                <a:cs typeface="Times New Roman" pitchFamily="18" charset="0"/>
              </a:rPr>
              <a:t>It is most useful for understanding the influence of several independent variables on a single outcome variable.</a:t>
            </a:r>
          </a:p>
          <a:p>
            <a:endParaRPr lang="en-IN" sz="1800" dirty="0"/>
          </a:p>
        </p:txBody>
      </p:sp>
      <p:pic>
        <p:nvPicPr>
          <p:cNvPr id="4"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9218" name="Picture 2"/>
          <p:cNvPicPr>
            <a:picLocks noChangeAspect="1" noChangeArrowheads="1"/>
          </p:cNvPicPr>
          <p:nvPr/>
        </p:nvPicPr>
        <p:blipFill>
          <a:blip r:embed="rId3"/>
          <a:srcRect/>
          <a:stretch>
            <a:fillRect/>
          </a:stretch>
        </p:blipFill>
        <p:spPr bwMode="auto">
          <a:xfrm>
            <a:off x="500034" y="4286256"/>
            <a:ext cx="8362952" cy="1989322"/>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5" name="Title 4"/>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Decision Tree Classifier :</a:t>
            </a:r>
            <a:endParaRPr lang="en-IN" dirty="0">
              <a:solidFill>
                <a:srgbClr val="FF0000"/>
              </a:solidFill>
              <a:latin typeface="Times New Roman" pitchFamily="18" charset="0"/>
              <a:cs typeface="Times New Roman" pitchFamily="18" charset="0"/>
            </a:endParaRPr>
          </a:p>
        </p:txBody>
      </p:sp>
      <p:sp>
        <p:nvSpPr>
          <p:cNvPr id="6" name="Title 1"/>
          <p:cNvSpPr txBox="1">
            <a:spLocks/>
          </p:cNvSpPr>
          <p:nvPr/>
        </p:nvSpPr>
        <p:spPr>
          <a:xfrm>
            <a:off x="500034" y="1285860"/>
            <a:ext cx="7929618" cy="3214710"/>
          </a:xfrm>
          <a:prstGeom prst="rect">
            <a:avLst/>
          </a:prstGeom>
        </p:spPr>
        <p:txBody>
          <a:bodyPr vert="horz" lIns="91440" tIns="45720" rIns="91440" bIns="45720" rtlCol="0" anchor="ctr">
            <a:normAutofit/>
          </a:bodyPr>
          <a:lstStyle/>
          <a:p>
            <a:r>
              <a:rPr lang="en-IN" sz="2200" dirty="0" smtClean="0">
                <a:latin typeface="Times New Roman" pitchFamily="18" charset="0"/>
                <a:cs typeface="Times New Roman" pitchFamily="18" charset="0"/>
              </a:rPr>
              <a:t>Given a data of attributes together with its classes , a decision tree produces a sequence of rules that can be used to classify the data.</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Decision Tree is simple to  understand and </a:t>
            </a:r>
            <a:r>
              <a:rPr lang="en-IN" sz="2200" dirty="0" err="1" smtClean="0">
                <a:latin typeface="Times New Roman" pitchFamily="18" charset="0"/>
                <a:cs typeface="Times New Roman" pitchFamily="18" charset="0"/>
              </a:rPr>
              <a:t>visualize,requires</a:t>
            </a:r>
            <a:r>
              <a:rPr lang="en-IN" sz="2200" dirty="0" smtClean="0">
                <a:latin typeface="Times New Roman" pitchFamily="18" charset="0"/>
                <a:cs typeface="Times New Roman" pitchFamily="18" charset="0"/>
              </a:rPr>
              <a:t> little data </a:t>
            </a:r>
            <a:r>
              <a:rPr lang="en-IN" sz="2200" dirty="0" err="1" smtClean="0">
                <a:latin typeface="Times New Roman" pitchFamily="18" charset="0"/>
                <a:cs typeface="Times New Roman" pitchFamily="18" charset="0"/>
              </a:rPr>
              <a:t>preparation,and</a:t>
            </a:r>
            <a:r>
              <a:rPr lang="en-IN" sz="2200" dirty="0" smtClean="0">
                <a:latin typeface="Times New Roman" pitchFamily="18" charset="0"/>
                <a:cs typeface="Times New Roman" pitchFamily="18" charset="0"/>
              </a:rPr>
              <a:t> can handle both numerical and categorical data.</a:t>
            </a:r>
          </a:p>
          <a:p>
            <a:endParaRPr kumimoji="0" lang="en-IN" sz="2200" b="1" i="0" u="none" strike="noStrike" kern="1200" cap="none" spc="0" normalizeH="0" baseline="0" noProof="0" dirty="0" smtClean="0">
              <a:ln>
                <a:noFill/>
              </a:ln>
              <a:solidFill>
                <a:srgbClr val="FF0000"/>
              </a:solidFill>
              <a:effectLst/>
              <a:uLnTx/>
              <a:uFillTx/>
              <a:latin typeface="+mj-lt"/>
              <a:ea typeface="+mj-ea"/>
              <a:cs typeface="+mj-cs"/>
            </a:endParaRPr>
          </a:p>
        </p:txBody>
      </p:sp>
      <p:pic>
        <p:nvPicPr>
          <p:cNvPr id="10242" name="Picture 2"/>
          <p:cNvPicPr>
            <a:picLocks noChangeAspect="1" noChangeArrowheads="1"/>
          </p:cNvPicPr>
          <p:nvPr/>
        </p:nvPicPr>
        <p:blipFill>
          <a:blip r:embed="rId3"/>
          <a:srcRect/>
          <a:stretch>
            <a:fillRect/>
          </a:stretch>
        </p:blipFill>
        <p:spPr bwMode="auto">
          <a:xfrm>
            <a:off x="500034" y="4286256"/>
            <a:ext cx="7943898" cy="190091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Random Forest Classifier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500034" y="1214422"/>
            <a:ext cx="8229600" cy="2828932"/>
          </a:xfrm>
        </p:spPr>
        <p:txBody>
          <a:bodyPr>
            <a:normAutofit/>
          </a:bodyPr>
          <a:lstStyle/>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Random forest classifier is a meta-estimator that fits a number of decision trees on various sub-samples of datasets and uses average to improve the predictive accuracy of the model and controls over-fitting.</a:t>
            </a:r>
          </a:p>
          <a:p>
            <a:r>
              <a:rPr lang="en-IN" sz="2200" dirty="0" err="1" smtClean="0">
                <a:latin typeface="Times New Roman" pitchFamily="18" charset="0"/>
                <a:cs typeface="Times New Roman" pitchFamily="18" charset="0"/>
              </a:rPr>
              <a:t>Thesub</a:t>
            </a:r>
            <a:r>
              <a:rPr lang="en-IN" sz="2200" dirty="0" smtClean="0">
                <a:latin typeface="Times New Roman" pitchFamily="18" charset="0"/>
                <a:cs typeface="Times New Roman" pitchFamily="18" charset="0"/>
              </a:rPr>
              <a:t>-sample size is always the same as the original input sample size but the samples are drawn with replacement.</a:t>
            </a:r>
          </a:p>
          <a:p>
            <a:endParaRPr lang="en-IN" dirty="0"/>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1266" name="Picture 2"/>
          <p:cNvPicPr>
            <a:picLocks noChangeAspect="1" noChangeArrowheads="1"/>
          </p:cNvPicPr>
          <p:nvPr/>
        </p:nvPicPr>
        <p:blipFill>
          <a:blip r:embed="rId3"/>
          <a:srcRect/>
          <a:stretch>
            <a:fillRect/>
          </a:stretch>
        </p:blipFill>
        <p:spPr bwMode="auto">
          <a:xfrm>
            <a:off x="285720" y="4357694"/>
            <a:ext cx="8582078" cy="212539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Support Vector Machine :</a:t>
            </a:r>
            <a:endParaRPr lang="en-IN" dirty="0">
              <a:solidFill>
                <a:srgbClr val="FF0000"/>
              </a:solidFill>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
        <p:nvSpPr>
          <p:cNvPr id="6" name="Subtitle 2"/>
          <p:cNvSpPr txBox="1">
            <a:spLocks/>
          </p:cNvSpPr>
          <p:nvPr/>
        </p:nvSpPr>
        <p:spPr>
          <a:xfrm>
            <a:off x="500034" y="1500174"/>
            <a:ext cx="7929618" cy="5000660"/>
          </a:xfrm>
          <a:prstGeom prst="rect">
            <a:avLst/>
          </a:prstGeom>
        </p:spPr>
        <p:txBody>
          <a:bodyPr vert="horz" lIns="91440" tIns="45720" rIns="91440" bIns="45720" rtlCol="0">
            <a:normAutofit/>
          </a:bodyPr>
          <a:lstStyle/>
          <a:p>
            <a:endParaRPr lang="en-IN" sz="2800" dirty="0" smtClean="0"/>
          </a:p>
          <a:p>
            <a:r>
              <a:rPr lang="en-IN" sz="2200" dirty="0" smtClean="0">
                <a:latin typeface="Times New Roman" pitchFamily="18" charset="0"/>
                <a:cs typeface="Times New Roman" pitchFamily="18" charset="0"/>
              </a:rPr>
              <a:t>Support vector machine is are presentation of the training data as points in space separated into categories by a clear gap that is a </a:t>
            </a:r>
            <a:r>
              <a:rPr lang="en-IN" sz="2200" dirty="0" err="1" smtClean="0">
                <a:latin typeface="Times New Roman" pitchFamily="18" charset="0"/>
                <a:cs typeface="Times New Roman" pitchFamily="18" charset="0"/>
              </a:rPr>
              <a:t>swide</a:t>
            </a:r>
            <a:r>
              <a:rPr lang="en-IN" sz="2200" dirty="0" smtClean="0">
                <a:latin typeface="Times New Roman" pitchFamily="18" charset="0"/>
                <a:cs typeface="Times New Roman" pitchFamily="18" charset="0"/>
              </a:rPr>
              <a:t> as possible.</a:t>
            </a:r>
          </a:p>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New examples are then mapped into that same space and predicted to be long to a category based on which side of the gap they fall.</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2800" b="1" i="0" u="none" strike="noStrike" kern="1200" cap="none" spc="0" normalizeH="0" baseline="0" noProof="0" dirty="0">
              <a:ln>
                <a:noFill/>
              </a:ln>
              <a:solidFill>
                <a:schemeClr val="tx1"/>
              </a:solidFill>
              <a:effectLst/>
              <a:uLnTx/>
              <a:uFillTx/>
              <a:latin typeface="+mn-lt"/>
              <a:ea typeface="+mn-ea"/>
              <a:cs typeface="+mn-cs"/>
            </a:endParaRPr>
          </a:p>
        </p:txBody>
      </p:sp>
      <p:pic>
        <p:nvPicPr>
          <p:cNvPr id="12290" name="Picture 2"/>
          <p:cNvPicPr>
            <a:picLocks noChangeAspect="1" noChangeArrowheads="1"/>
          </p:cNvPicPr>
          <p:nvPr/>
        </p:nvPicPr>
        <p:blipFill>
          <a:blip r:embed="rId3"/>
          <a:srcRect/>
          <a:stretch>
            <a:fillRect/>
          </a:stretch>
        </p:blipFill>
        <p:spPr bwMode="auto">
          <a:xfrm>
            <a:off x="357158" y="4500570"/>
            <a:ext cx="8382318" cy="2045036"/>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Gradient Boosting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57158" y="1142985"/>
            <a:ext cx="8229600" cy="3000396"/>
          </a:xfrm>
        </p:spPr>
        <p:txBody>
          <a:bodyPr>
            <a:normAutofit/>
          </a:bodyPr>
          <a:lstStyle/>
          <a:p>
            <a:endParaRPr lang="en-IN" dirty="0" smtClean="0"/>
          </a:p>
          <a:p>
            <a:r>
              <a:rPr lang="en-IN" sz="2200" dirty="0" smtClean="0">
                <a:latin typeface="Times New Roman" pitchFamily="18" charset="0"/>
                <a:cs typeface="Times New Roman" pitchFamily="18" charset="0"/>
              </a:rPr>
              <a:t>It is a technique of producing an additive predictive model by combining various weak </a:t>
            </a:r>
            <a:r>
              <a:rPr lang="en-IN" sz="2200" dirty="0" err="1" smtClean="0">
                <a:latin typeface="Times New Roman" pitchFamily="18" charset="0"/>
                <a:cs typeface="Times New Roman" pitchFamily="18" charset="0"/>
              </a:rPr>
              <a:t>predictors,typically</a:t>
            </a:r>
            <a:r>
              <a:rPr lang="en-IN" sz="2200" dirty="0" smtClean="0">
                <a:latin typeface="Times New Roman" pitchFamily="18" charset="0"/>
                <a:cs typeface="Times New Roman" pitchFamily="18" charset="0"/>
              </a:rPr>
              <a:t> Decision Trees.</a:t>
            </a:r>
          </a:p>
          <a:p>
            <a:r>
              <a:rPr lang="en-IN" sz="2200" dirty="0" smtClean="0">
                <a:latin typeface="Times New Roman" pitchFamily="18" charset="0"/>
                <a:cs typeface="Times New Roman" pitchFamily="18" charset="0"/>
              </a:rPr>
              <a:t>Due to this sequential </a:t>
            </a:r>
            <a:r>
              <a:rPr lang="en-IN" sz="2200" dirty="0" err="1" smtClean="0">
                <a:latin typeface="Times New Roman" pitchFamily="18" charset="0"/>
                <a:cs typeface="Times New Roman" pitchFamily="18" charset="0"/>
              </a:rPr>
              <a:t>connection,boosting</a:t>
            </a:r>
            <a:r>
              <a:rPr lang="en-IN" sz="2200" dirty="0" smtClean="0">
                <a:latin typeface="Times New Roman" pitchFamily="18" charset="0"/>
                <a:cs typeface="Times New Roman" pitchFamily="18" charset="0"/>
              </a:rPr>
              <a:t> algorithms are usually slow to learn, but also highly accurate.</a:t>
            </a:r>
          </a:p>
          <a:p>
            <a:r>
              <a:rPr lang="en-IN" sz="2200" dirty="0" smtClean="0">
                <a:latin typeface="Times New Roman" pitchFamily="18" charset="0"/>
                <a:cs typeface="Times New Roman" pitchFamily="18" charset="0"/>
              </a:rPr>
              <a:t>The final model aggregates the result of each step and thus a strong learner is achieved.</a:t>
            </a:r>
          </a:p>
          <a:p>
            <a:endParaRPr lang="en-IN" dirty="0"/>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3315" name="Picture 3"/>
          <p:cNvPicPr>
            <a:picLocks noChangeAspect="1" noChangeArrowheads="1"/>
          </p:cNvPicPr>
          <p:nvPr/>
        </p:nvPicPr>
        <p:blipFill>
          <a:blip r:embed="rId3"/>
          <a:srcRect/>
          <a:stretch>
            <a:fillRect/>
          </a:stretch>
        </p:blipFill>
        <p:spPr bwMode="auto">
          <a:xfrm>
            <a:off x="357158" y="4572008"/>
            <a:ext cx="8429684" cy="194287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err="1" smtClean="0">
                <a:solidFill>
                  <a:srgbClr val="FF0000"/>
                </a:solidFill>
                <a:latin typeface="Times New Roman" pitchFamily="18" charset="0"/>
                <a:cs typeface="Times New Roman" pitchFamily="18" charset="0"/>
              </a:rPr>
              <a:t>XGBoosting</a:t>
            </a:r>
            <a:r>
              <a:rPr lang="en-IN" b="1" dirty="0" smtClean="0">
                <a:solidFill>
                  <a:srgbClr val="FF0000"/>
                </a:solidFill>
                <a:latin typeface="Times New Roman" pitchFamily="18" charset="0"/>
                <a:cs typeface="Times New Roman" pitchFamily="18" charset="0"/>
              </a:rPr>
              <a:t>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1071547"/>
            <a:ext cx="8229600" cy="2786082"/>
          </a:xfrm>
        </p:spPr>
        <p:txBody>
          <a:bodyPr/>
          <a:lstStyle/>
          <a:p>
            <a:endParaRPr lang="en-IN" dirty="0" smtClean="0"/>
          </a:p>
          <a:p>
            <a:r>
              <a:rPr lang="en-IN" sz="2200" dirty="0" err="1" smtClean="0">
                <a:latin typeface="Times New Roman" pitchFamily="18" charset="0"/>
                <a:cs typeface="Times New Roman" pitchFamily="18" charset="0"/>
              </a:rPr>
              <a:t>XGBoost</a:t>
            </a:r>
            <a:r>
              <a:rPr lang="en-IN" sz="2200" dirty="0" smtClean="0">
                <a:latin typeface="Times New Roman" pitchFamily="18" charset="0"/>
                <a:cs typeface="Times New Roman" pitchFamily="18" charset="0"/>
              </a:rPr>
              <a:t> is a decision-tree-base </a:t>
            </a:r>
            <a:r>
              <a:rPr lang="en-IN" sz="2200" dirty="0" err="1" smtClean="0">
                <a:latin typeface="Times New Roman" pitchFamily="18" charset="0"/>
                <a:cs typeface="Times New Roman" pitchFamily="18" charset="0"/>
              </a:rPr>
              <a:t>densemble</a:t>
            </a:r>
            <a:r>
              <a:rPr lang="en-IN" sz="2200" dirty="0" smtClean="0">
                <a:latin typeface="Times New Roman" pitchFamily="18" charset="0"/>
                <a:cs typeface="Times New Roman" pitchFamily="18" charset="0"/>
              </a:rPr>
              <a:t> Machine Learning algorithm that uses a gradient boosting frame work.</a:t>
            </a:r>
          </a:p>
          <a:p>
            <a:r>
              <a:rPr lang="en-IN" sz="2200" dirty="0" smtClean="0">
                <a:latin typeface="Times New Roman" pitchFamily="18" charset="0"/>
                <a:cs typeface="Times New Roman" pitchFamily="18" charset="0"/>
              </a:rPr>
              <a:t>It is a perfect combination of software  and hardware optimization technique </a:t>
            </a:r>
            <a:r>
              <a:rPr lang="en-IN" sz="2200" dirty="0" err="1" smtClean="0">
                <a:latin typeface="Times New Roman" pitchFamily="18" charset="0"/>
                <a:cs typeface="Times New Roman" pitchFamily="18" charset="0"/>
              </a:rPr>
              <a:t>stoy</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ie</a:t>
            </a:r>
            <a:r>
              <a:rPr lang="en-IN" sz="2200" dirty="0" smtClean="0">
                <a:latin typeface="Times New Roman" pitchFamily="18" charset="0"/>
                <a:cs typeface="Times New Roman" pitchFamily="18" charset="0"/>
              </a:rPr>
              <a:t> ld superior results using less computing resources in the shortest amount of time.</a:t>
            </a:r>
          </a:p>
          <a:p>
            <a:pPr>
              <a:buNone/>
            </a:pPr>
            <a:endParaRPr lang="en-IN" dirty="0"/>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4338" name="Picture 2"/>
          <p:cNvPicPr>
            <a:picLocks noChangeAspect="1" noChangeArrowheads="1"/>
          </p:cNvPicPr>
          <p:nvPr/>
        </p:nvPicPr>
        <p:blipFill>
          <a:blip r:embed="rId3"/>
          <a:srcRect/>
          <a:stretch>
            <a:fillRect/>
          </a:stretch>
        </p:blipFill>
        <p:spPr bwMode="auto">
          <a:xfrm>
            <a:off x="357158" y="4000504"/>
            <a:ext cx="8420216" cy="203383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lstStyle/>
          <a:p>
            <a:pPr algn="l"/>
            <a:r>
              <a:rPr lang="en-IN" b="1" dirty="0" smtClean="0">
                <a:solidFill>
                  <a:srgbClr val="FF0000"/>
                </a:solidFill>
              </a:rPr>
              <a:t>10. Comparison of Model:</a:t>
            </a:r>
            <a:endParaRPr lang="en-IN" dirty="0">
              <a:solidFill>
                <a:srgbClr val="FF0000"/>
              </a:solidFill>
            </a:endParaRPr>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5363" name="Picture 3"/>
          <p:cNvPicPr>
            <a:picLocks noChangeAspect="1" noChangeArrowheads="1"/>
          </p:cNvPicPr>
          <p:nvPr/>
        </p:nvPicPr>
        <p:blipFill>
          <a:blip r:embed="rId3"/>
          <a:srcRect/>
          <a:stretch>
            <a:fillRect/>
          </a:stretch>
        </p:blipFill>
        <p:spPr bwMode="auto">
          <a:xfrm>
            <a:off x="271463" y="1123950"/>
            <a:ext cx="8601075" cy="4610100"/>
          </a:xfrm>
          <a:prstGeom prst="rect">
            <a:avLst/>
          </a:prstGeom>
          <a:noFill/>
          <a:ln w="9525">
            <a:noFill/>
            <a:miter lim="800000"/>
            <a:headEnd/>
            <a:tailEnd/>
          </a:ln>
          <a:effectLst/>
        </p:spPr>
      </p:pic>
      <p:sp>
        <p:nvSpPr>
          <p:cNvPr id="9" name="Title 1"/>
          <p:cNvSpPr txBox="1">
            <a:spLocks/>
          </p:cNvSpPr>
          <p:nvPr/>
        </p:nvSpPr>
        <p:spPr>
          <a:xfrm>
            <a:off x="357158" y="5857892"/>
            <a:ext cx="8501122" cy="857248"/>
          </a:xfrm>
          <a:prstGeom prst="rect">
            <a:avLst/>
          </a:prstGeom>
        </p:spPr>
        <p:txBody>
          <a:bodyPr vert="horz" lIns="91440" tIns="45720" rIns="91440" bIns="45720" rtlCol="0" anchor="ctr">
            <a:normAutofit fontScale="47500" lnSpcReduction="20000"/>
          </a:bodyPr>
          <a:lstStyle/>
          <a:p>
            <a:endParaRPr lang="en-IN" sz="4400" dirty="0" smtClean="0"/>
          </a:p>
          <a:p>
            <a:r>
              <a:rPr lang="en-IN" sz="4600" dirty="0" smtClean="0"/>
              <a:t>        XGBoostshowshighesttestaccuracyscoreof87%andAUCscoreis0.874</a:t>
            </a:r>
            <a:r>
              <a:rPr lang="en-IN" sz="4400" dirty="0" smtClean="0"/>
              <a:t>. </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4400" b="0"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11. Combined ROC Curve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5114932" cy="4972072"/>
          </a:xfrm>
        </p:spPr>
        <p:txBody>
          <a:bodyPr>
            <a:normAutofit fontScale="25000" lnSpcReduction="20000"/>
          </a:bodyPr>
          <a:lstStyle/>
          <a:p>
            <a:endParaRPr lang="en-IN" dirty="0" smtClean="0"/>
          </a:p>
          <a:p>
            <a:r>
              <a:rPr lang="en-IN" sz="8800" dirty="0" smtClean="0">
                <a:latin typeface="Times New Roman" pitchFamily="18" charset="0"/>
                <a:cs typeface="Times New Roman" pitchFamily="18" charset="0"/>
              </a:rPr>
              <a:t>An ROC curve (receiver operating characteristic curve) is a graph showing the performance of  a classification model at all classification thresholds.</a:t>
            </a:r>
          </a:p>
          <a:p>
            <a:endParaRPr lang="en-IN" sz="8800" dirty="0" smtClean="0">
              <a:latin typeface="Times New Roman" pitchFamily="18" charset="0"/>
              <a:cs typeface="Times New Roman" pitchFamily="18" charset="0"/>
            </a:endParaRPr>
          </a:p>
          <a:p>
            <a:r>
              <a:rPr lang="en-IN" sz="8800" dirty="0" smtClean="0">
                <a:latin typeface="Times New Roman" pitchFamily="18" charset="0"/>
                <a:cs typeface="Times New Roman" pitchFamily="18" charset="0"/>
              </a:rPr>
              <a:t>An ROC curve plots TPR vs. FPR at different classification thresholds.</a:t>
            </a:r>
          </a:p>
          <a:p>
            <a:pPr>
              <a:buNone/>
            </a:pPr>
            <a:endParaRPr lang="en-IN" sz="8800" dirty="0" smtClean="0">
              <a:latin typeface="Times New Roman" pitchFamily="18" charset="0"/>
              <a:cs typeface="Times New Roman" pitchFamily="18" charset="0"/>
            </a:endParaRPr>
          </a:p>
          <a:p>
            <a:r>
              <a:rPr lang="en-IN" sz="8800" dirty="0" smtClean="0">
                <a:latin typeface="Times New Roman" pitchFamily="18" charset="0"/>
                <a:cs typeface="Times New Roman" pitchFamily="18" charset="0"/>
              </a:rPr>
              <a:t>Lowering the classification threshold classifies more items as </a:t>
            </a:r>
            <a:r>
              <a:rPr lang="en-IN" sz="8800" dirty="0" err="1" smtClean="0">
                <a:latin typeface="Times New Roman" pitchFamily="18" charset="0"/>
                <a:cs typeface="Times New Roman" pitchFamily="18" charset="0"/>
              </a:rPr>
              <a:t>positive,thus</a:t>
            </a:r>
            <a:r>
              <a:rPr lang="en-IN" sz="8800" dirty="0" smtClean="0">
                <a:latin typeface="Times New Roman" pitchFamily="18" charset="0"/>
                <a:cs typeface="Times New Roman" pitchFamily="18" charset="0"/>
              </a:rPr>
              <a:t> increasing both False Positives and True Positives.</a:t>
            </a:r>
          </a:p>
          <a:p>
            <a:endParaRPr lang="en-IN" dirty="0"/>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6386" name="Picture 2"/>
          <p:cNvPicPr>
            <a:picLocks noChangeAspect="1" noChangeArrowheads="1"/>
          </p:cNvPicPr>
          <p:nvPr/>
        </p:nvPicPr>
        <p:blipFill>
          <a:blip r:embed="rId3"/>
          <a:srcRect/>
          <a:stretch>
            <a:fillRect/>
          </a:stretch>
        </p:blipFill>
        <p:spPr bwMode="auto">
          <a:xfrm>
            <a:off x="5286380" y="2500306"/>
            <a:ext cx="3540752" cy="3000396"/>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12. Feature Importance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4043362" cy="4525963"/>
          </a:xfrm>
        </p:spPr>
        <p:txBody>
          <a:bodyPr>
            <a:normAutofit fontScale="92500"/>
          </a:bodyPr>
          <a:lstStyle/>
          <a:p>
            <a:endParaRPr lang="en-IN" dirty="0" smtClean="0"/>
          </a:p>
          <a:p>
            <a:r>
              <a:rPr lang="en-IN" sz="2400" dirty="0" smtClean="0">
                <a:latin typeface="Times New Roman" pitchFamily="18" charset="0"/>
                <a:cs typeface="Times New Roman" pitchFamily="18" charset="0"/>
              </a:rPr>
              <a:t>Feature selection is the process of reducing the number of input variables when developing a predictive model.</a:t>
            </a:r>
          </a:p>
          <a:p>
            <a:r>
              <a:rPr lang="en-IN" sz="2400" dirty="0" smtClean="0">
                <a:latin typeface="Times New Roman" pitchFamily="18" charset="0"/>
                <a:cs typeface="Times New Roman" pitchFamily="18" charset="0"/>
              </a:rPr>
              <a:t>It is desirable to reduce the number of input variables to both </a:t>
            </a:r>
            <a:r>
              <a:rPr lang="en-IN" sz="2400" dirty="0" err="1" smtClean="0">
                <a:latin typeface="Times New Roman" pitchFamily="18" charset="0"/>
                <a:cs typeface="Times New Roman" pitchFamily="18" charset="0"/>
              </a:rPr>
              <a:t>reducethe</a:t>
            </a:r>
            <a:r>
              <a:rPr lang="en-IN" sz="2400" dirty="0" smtClean="0">
                <a:latin typeface="Times New Roman" pitchFamily="18" charset="0"/>
                <a:cs typeface="Times New Roman" pitchFamily="18" charset="0"/>
              </a:rPr>
              <a:t> computational cost of </a:t>
            </a:r>
            <a:r>
              <a:rPr lang="en-IN" sz="2400" dirty="0" err="1" smtClean="0">
                <a:latin typeface="Times New Roman" pitchFamily="18" charset="0"/>
                <a:cs typeface="Times New Roman" pitchFamily="18" charset="0"/>
              </a:rPr>
              <a:t>modeling</a:t>
            </a:r>
            <a:r>
              <a:rPr lang="en-IN" sz="2400" dirty="0" smtClean="0">
                <a:latin typeface="Times New Roman" pitchFamily="18" charset="0"/>
                <a:cs typeface="Times New Roman" pitchFamily="18" charset="0"/>
              </a:rPr>
              <a:t> </a:t>
            </a:r>
            <a:r>
              <a:rPr lang="en-IN" sz="2400" dirty="0" err="1" smtClean="0">
                <a:latin typeface="Times New Roman" pitchFamily="18" charset="0"/>
                <a:cs typeface="Times New Roman" pitchFamily="18" charset="0"/>
              </a:rPr>
              <a:t>and,in</a:t>
            </a:r>
            <a:r>
              <a:rPr lang="en-IN" sz="2400" dirty="0" smtClean="0">
                <a:latin typeface="Times New Roman" pitchFamily="18" charset="0"/>
                <a:cs typeface="Times New Roman" pitchFamily="18" charset="0"/>
              </a:rPr>
              <a:t> some </a:t>
            </a:r>
            <a:r>
              <a:rPr lang="en-IN" sz="2400" dirty="0" err="1" smtClean="0">
                <a:latin typeface="Times New Roman" pitchFamily="18" charset="0"/>
                <a:cs typeface="Times New Roman" pitchFamily="18" charset="0"/>
              </a:rPr>
              <a:t>cases,to</a:t>
            </a:r>
            <a:r>
              <a:rPr lang="en-IN" sz="2400" dirty="0" smtClean="0">
                <a:latin typeface="Times New Roman" pitchFamily="18" charset="0"/>
                <a:cs typeface="Times New Roman" pitchFamily="18" charset="0"/>
              </a:rPr>
              <a:t> improve the performance of the model.</a:t>
            </a:r>
          </a:p>
          <a:p>
            <a:endParaRPr lang="en-IN" dirty="0"/>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pic>
        <p:nvPicPr>
          <p:cNvPr id="17410" name="Picture 2"/>
          <p:cNvPicPr>
            <a:picLocks noChangeAspect="1" noChangeArrowheads="1"/>
          </p:cNvPicPr>
          <p:nvPr/>
        </p:nvPicPr>
        <p:blipFill>
          <a:blip r:embed="rId3"/>
          <a:srcRect/>
          <a:stretch>
            <a:fillRect/>
          </a:stretch>
        </p:blipFill>
        <p:spPr bwMode="auto">
          <a:xfrm>
            <a:off x="4643438" y="1857364"/>
            <a:ext cx="4143404" cy="294702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solidFill>
                  <a:srgbClr val="FF0000"/>
                </a:solidFill>
                <a:latin typeface="Times New Roman" pitchFamily="18" charset="0"/>
                <a:cs typeface="Times New Roman" pitchFamily="18" charset="0"/>
              </a:rPr>
              <a:t>13. Conclusion :</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From all base </a:t>
            </a:r>
            <a:r>
              <a:rPr lang="en-IN" sz="2200" smtClean="0">
                <a:latin typeface="Times New Roman" pitchFamily="18" charset="0"/>
                <a:cs typeface="Times New Roman" pitchFamily="18" charset="0"/>
              </a:rPr>
              <a:t>line model , Random </a:t>
            </a:r>
            <a:r>
              <a:rPr lang="en-IN" sz="2200" dirty="0" smtClean="0">
                <a:latin typeface="Times New Roman" pitchFamily="18" charset="0"/>
                <a:cs typeface="Times New Roman" pitchFamily="18" charset="0"/>
              </a:rPr>
              <a:t>Forest classifier shows highest test accuracy and F1 score and AUC.</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Base line model of Random Forest and decision trees how huge difference in train and test accuracy which shows over fitting.</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After cross validation and hyper parameter tuning , </a:t>
            </a:r>
            <a:r>
              <a:rPr lang="en-IN" sz="2200" dirty="0" err="1" smtClean="0">
                <a:latin typeface="Times New Roman" pitchFamily="18" charset="0"/>
                <a:cs typeface="Times New Roman" pitchFamily="18" charset="0"/>
              </a:rPr>
              <a:t>XGBoosts</a:t>
            </a:r>
            <a:r>
              <a:rPr lang="en-IN" sz="2200" dirty="0" smtClean="0">
                <a:latin typeface="Times New Roman" pitchFamily="18" charset="0"/>
                <a:cs typeface="Times New Roman" pitchFamily="18" charset="0"/>
              </a:rPr>
              <a:t> how highest test accuracy score of 87% and AUC is 0.874.</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Cross validation </a:t>
            </a:r>
            <a:r>
              <a:rPr lang="en-IN" sz="2200" dirty="0" err="1" smtClean="0">
                <a:latin typeface="Times New Roman" pitchFamily="18" charset="0"/>
                <a:cs typeface="Times New Roman" pitchFamily="18" charset="0"/>
              </a:rPr>
              <a:t>andhyper</a:t>
            </a:r>
            <a:r>
              <a:rPr lang="en-IN" sz="2200" dirty="0" smtClean="0">
                <a:latin typeface="Times New Roman" pitchFamily="18" charset="0"/>
                <a:cs typeface="Times New Roman" pitchFamily="18" charset="0"/>
              </a:rPr>
              <a:t> parameter tuning certainly reduces chances of over fitting and also increases performance of model.</a:t>
            </a:r>
          </a:p>
          <a:p>
            <a:pPr>
              <a:buNone/>
            </a:pPr>
            <a:endParaRPr lang="en-IN" sz="2200" dirty="0">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a:t>
            </a:r>
            <a:r>
              <a:rPr lang="en-US" sz="4400" b="1" dirty="0" smtClean="0">
                <a:solidFill>
                  <a:srgbClr val="FF0000"/>
                </a:solidFill>
                <a:latin typeface="Times New Roman" pitchFamily="18" charset="0"/>
                <a:cs typeface="Times New Roman" pitchFamily="18" charset="0"/>
              </a:rPr>
              <a:t>     THANKYOU</a:t>
            </a:r>
            <a:endParaRPr lang="en-IN" sz="4400" b="1" dirty="0">
              <a:solidFill>
                <a:srgbClr val="FF0000"/>
              </a:solidFill>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srcRect/>
          <a:stretch>
            <a:fillRect/>
          </a:stretch>
        </p:blipFill>
        <p:spPr bwMode="auto">
          <a:xfrm>
            <a:off x="8286776" y="214290"/>
            <a:ext cx="723900" cy="7429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1379</Words>
  <Application>Microsoft Office PowerPoint</Application>
  <PresentationFormat>On-screen Show (4:3)</PresentationFormat>
  <Paragraphs>178</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Capstone Project – 3  Supervised M.L.</vt:lpstr>
      <vt:lpstr>Table Of Content :</vt:lpstr>
      <vt:lpstr>1. Problem Statement: </vt:lpstr>
      <vt:lpstr>2. Introduction :</vt:lpstr>
      <vt:lpstr>2.Introduction (Contd.) :</vt:lpstr>
      <vt:lpstr>Introduction(Contd.) :</vt:lpstr>
      <vt:lpstr>3. Data Cleaning :</vt:lpstr>
      <vt:lpstr>4. Exploratory Data Analysis (EDA) :  </vt:lpstr>
      <vt:lpstr>EDA (Continued) :</vt:lpstr>
      <vt:lpstr>EDA (Continued) :</vt:lpstr>
      <vt:lpstr>EDA (Continued) :</vt:lpstr>
      <vt:lpstr>5. Handling Class Imbalance :</vt:lpstr>
      <vt:lpstr>Handling Class Imbalance (Continued)</vt:lpstr>
      <vt:lpstr>6. Transformation of Data :</vt:lpstr>
      <vt:lpstr>7. SplittingData :</vt:lpstr>
      <vt:lpstr>8. Fitting Different Model :</vt:lpstr>
      <vt:lpstr>9. CrossValidation&amp;HyperparameterTuning :-</vt:lpstr>
      <vt:lpstr>Logistic Regression :</vt:lpstr>
      <vt:lpstr>Decision Tree Classifier :</vt:lpstr>
      <vt:lpstr>Random Forest Classifier :</vt:lpstr>
      <vt:lpstr>Support Vector Machine :</vt:lpstr>
      <vt:lpstr>Gradient Boosting :</vt:lpstr>
      <vt:lpstr>XGBoosting :</vt:lpstr>
      <vt:lpstr>10. Comparison of Model:</vt:lpstr>
      <vt:lpstr>11. Combined ROC Curve :</vt:lpstr>
      <vt:lpstr>12. Feature Importance :</vt:lpstr>
      <vt:lpstr>13. Conclusion :</vt:lpstr>
      <vt:lpstr>Slide 28</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- 1</dc:title>
  <dc:creator>HCL</dc:creator>
  <cp:lastModifiedBy>HCL</cp:lastModifiedBy>
  <cp:revision>83</cp:revision>
  <dcterms:created xsi:type="dcterms:W3CDTF">2023-05-27T06:15:54Z</dcterms:created>
  <dcterms:modified xsi:type="dcterms:W3CDTF">2023-06-06T09:58:12Z</dcterms:modified>
</cp:coreProperties>
</file>